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notesMasterIdLst>
    <p:notesMasterId r:id="rId18"/>
  </p:notesMasterIdLst>
  <p:sldIdLst>
    <p:sldId id="256" r:id="rId5"/>
    <p:sldId id="2147476546" r:id="rId6"/>
    <p:sldId id="2147476547" r:id="rId7"/>
    <p:sldId id="2147476536" r:id="rId8"/>
    <p:sldId id="2147476539" r:id="rId9"/>
    <p:sldId id="2147476538" r:id="rId10"/>
    <p:sldId id="2147476545" r:id="rId11"/>
    <p:sldId id="2147476540" r:id="rId12"/>
    <p:sldId id="2147476543" r:id="rId13"/>
    <p:sldId id="2147476548" r:id="rId14"/>
    <p:sldId id="2147476541" r:id="rId15"/>
    <p:sldId id="2147476549" r:id="rId16"/>
    <p:sldId id="2147476550" r:id="rId1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559305-F6D7-4B81-8EF9-6F053B5D70E6}" v="20" dt="2026-03-06T07:26:18.8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5031" autoAdjust="0"/>
    <p:restoredTop sz="96154"/>
  </p:normalViewPr>
  <p:slideViewPr>
    <p:cSldViewPr snapToGrid="0">
      <p:cViewPr varScale="1">
        <p:scale>
          <a:sx n="138" d="100"/>
          <a:sy n="138" d="100"/>
        </p:scale>
        <p:origin x="14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5FEB3C-C6D3-B944-A816-19E20790584E}" type="datetimeFigureOut">
              <a:rPr lang="en-DE" smtClean="0"/>
              <a:t>03/12/2026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67F5D-1534-9743-BB34-2A5392612DE4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73757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de-DE" noProof="0"/>
              <a:t>Master-Untertitelformat bearbeiten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106159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de-DE" noProof="0"/>
              <a:t>Mastertextformat bearbeiten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2134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de-DE" noProof="0"/>
              <a:t>Mastertextformat bearbeiten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‹Nr.›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826213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‹Nr.›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034608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600595" y="-13096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3648722" y="17509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4461185" y="-4405958"/>
            <a:ext cx="7914001" cy="16836374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909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6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‹Nr.›</a:t>
            </a:fld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1129178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2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8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3889893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909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6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‹Nr.›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68917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ur Tite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909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6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B4DE08-3B76-0F38-3AC5-23EFA8A8C87A}"/>
              </a:ext>
            </a:extLst>
          </p:cNvPr>
          <p:cNvSpPr/>
          <p:nvPr userDrawn="1"/>
        </p:nvSpPr>
        <p:spPr>
          <a:xfrm>
            <a:off x="0" y="1349115"/>
            <a:ext cx="12192000" cy="496174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88733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19741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909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6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6931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021031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027138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‹Nr.›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473910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979019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635935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527407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5125337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‹Nr.›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940516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902093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688519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38F56-39F2-4C66-B0F3-6BA5BD4DB869}" type="datetime1">
              <a:rPr lang="de-DE" smtClean="0"/>
              <a:t>12.03.2026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Jörg Schaarschmidt &amp; Wolfgang Wenzel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3514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0412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7567F-DC7C-4F1B-AFB7-D18F03F77D5C}" type="datetime1">
              <a:rPr lang="de-DE" smtClean="0"/>
              <a:t>12.03.2026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Jörg Schaarschmidt &amp; Wolfgang Wenzel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5538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2089800"/>
            <a:ext cx="12192000" cy="267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74400" y="2519600"/>
            <a:ext cx="11043200" cy="202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‹Nr.›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168508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terialDigital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/>
          <p:cNvSpPr>
            <a:spLocks noGrp="1"/>
          </p:cNvSpPr>
          <p:nvPr>
            <p:ph type="body" sz="quarter" idx="10"/>
          </p:nvPr>
        </p:nvSpPr>
        <p:spPr>
          <a:xfrm>
            <a:off x="143019" y="1155700"/>
            <a:ext cx="11905962" cy="5084763"/>
          </a:xfrm>
        </p:spPr>
        <p:txBody>
          <a:bodyPr>
            <a:normAutofit/>
          </a:bodyPr>
          <a:lstStyle>
            <a:lvl1pPr marL="252000" indent="-540000">
              <a:buFontTx/>
              <a:buBlip>
                <a:blip r:embed="rId2"/>
              </a:buBlip>
              <a:defRPr sz="2400" b="0" i="0">
                <a:latin typeface="Yantramanav" panose="02000000000000000000" pitchFamily="2" charset="0"/>
                <a:cs typeface="Yantramanav" panose="02000000000000000000" pitchFamily="2" charset="0"/>
              </a:defRPr>
            </a:lvl1pPr>
            <a:lvl2pPr marL="756000" indent="-432000">
              <a:buFontTx/>
              <a:buBlip>
                <a:blip r:embed="rId2"/>
              </a:buBlip>
              <a:defRPr sz="2200" b="0" i="0">
                <a:latin typeface="Yantramanav" panose="02000000000000000000" pitchFamily="2" charset="0"/>
                <a:cs typeface="Yantramanav" panose="02000000000000000000" pitchFamily="2" charset="0"/>
              </a:defRPr>
            </a:lvl2pPr>
            <a:lvl3pPr marL="1080000" indent="-396000">
              <a:buFontTx/>
              <a:buBlip>
                <a:blip r:embed="rId2"/>
              </a:buBlip>
              <a:defRPr sz="2000" b="0" i="0">
                <a:latin typeface="Yantramanav" panose="02000000000000000000" pitchFamily="2" charset="0"/>
                <a:cs typeface="Yantramanav" panose="02000000000000000000" pitchFamily="2" charset="0"/>
              </a:defRPr>
            </a:lvl3pPr>
            <a:lvl4pPr marL="1476000" indent="-396000">
              <a:buFontTx/>
              <a:buBlip>
                <a:blip r:embed="rId2"/>
              </a:buBlip>
              <a:defRPr sz="1800" b="0" i="0">
                <a:latin typeface="Yantramanav" panose="02000000000000000000" pitchFamily="2" charset="0"/>
                <a:cs typeface="Yantramanav" panose="02000000000000000000" pitchFamily="2" charset="0"/>
              </a:defRPr>
            </a:lvl4pPr>
            <a:lvl5pPr marL="1836000" indent="-396000">
              <a:buFontTx/>
              <a:buBlip>
                <a:blip r:embed="rId2"/>
              </a:buBlip>
              <a:defRPr sz="1600" b="0" i="0">
                <a:latin typeface="Yantramanav" panose="02000000000000000000" pitchFamily="2" charset="0"/>
                <a:cs typeface="Yantramanav" panose="02000000000000000000" pitchFamily="2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Google Shape;24;p3">
            <a:extLst>
              <a:ext uri="{FF2B5EF4-FFF2-40B4-BE49-F238E27FC236}">
                <a16:creationId xmlns:a16="http://schemas.microsoft.com/office/drawing/2014/main" id="{BA7A59B9-783D-676A-E11D-7CD8E33413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4600" y="188258"/>
            <a:ext cx="10294400" cy="7585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swald"/>
              <a:buNone/>
              <a:defRPr sz="2400">
                <a:solidFill>
                  <a:schemeClr val="lt1"/>
                </a:solidFill>
                <a:latin typeface="Antonio" panose="020B0604020202020204" charset="0"/>
                <a:ea typeface="Antonio" panose="020B0604020202020204" charset="0"/>
                <a:cs typeface="Antonio" panose="020B0604020202020204" charset="0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DA9F65-B890-CF6E-D17B-FED7EF1B0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  <a:buSzPts val="1000"/>
              <a:buFont typeface="Roboto"/>
              <a:buNone/>
            </a:pPr>
            <a:r>
              <a:rPr lang="en-GB"/>
              <a:t>Jörg Schaarschmidt &amp; Wolfgang Wenzel </a:t>
            </a:r>
            <a:endParaRPr lang="en-DE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F62633D-C421-3334-FC16-495C96EA58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282295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Jörg Schaarschmidt &amp; Wolfgang Wenzel 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B2DFCB-A2B1-486C-A0DF-6B8A6184842D}" type="datetime1">
              <a:rPr lang="de-DE" smtClean="0"/>
              <a:t>12.03.2026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71389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F11501A5-EFF7-2B19-AD60-0A8C9E0AC0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-583953" y="-2268639"/>
            <a:ext cx="17007574" cy="5434826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873C5E8F-56E1-379B-175F-511B80065042}"/>
              </a:ext>
            </a:extLst>
          </p:cNvPr>
          <p:cNvSpPr/>
          <p:nvPr userDrawn="1"/>
        </p:nvSpPr>
        <p:spPr>
          <a:xfrm>
            <a:off x="0" y="0"/>
            <a:ext cx="12192000" cy="987574"/>
          </a:xfrm>
          <a:prstGeom prst="rect">
            <a:avLst/>
          </a:prstGeom>
          <a:solidFill>
            <a:srgbClr val="285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DE62D7D4-9B43-3C39-E4B9-EAC20B7528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70273" y="1417712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4EA2F788-79A9-B3B4-295E-B96CE3EFD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539" y="1417712"/>
            <a:ext cx="5157787" cy="823912"/>
          </a:xfrm>
          <a:noFill/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Inhaltsplatzhalter 3">
            <a:extLst>
              <a:ext uri="{FF2B5EF4-FFF2-40B4-BE49-F238E27FC236}">
                <a16:creationId xmlns:a16="http://schemas.microsoft.com/office/drawing/2014/main" id="{F3CCBCA1-4415-6802-CB57-0B4703876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539" y="2241624"/>
            <a:ext cx="5157787" cy="3684588"/>
          </a:xfrm>
          <a:noFill/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8" name="Inhaltsplatzhalter 5">
            <a:extLst>
              <a:ext uri="{FF2B5EF4-FFF2-40B4-BE49-F238E27FC236}">
                <a16:creationId xmlns:a16="http://schemas.microsoft.com/office/drawing/2014/main" id="{788FC335-6CD2-6387-D62F-9908535362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70273" y="2241624"/>
            <a:ext cx="5183188" cy="3684588"/>
          </a:xfrm>
          <a:noFill/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C2578B0-78FE-816B-CF86-5B927ACF00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76" t="51659" r="33899" b="13522"/>
          <a:stretch/>
        </p:blipFill>
        <p:spPr>
          <a:xfrm>
            <a:off x="10198359" y="0"/>
            <a:ext cx="1993641" cy="112286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89345BC-59D6-33C1-C0A1-22FFC2B1CDF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224" y="116885"/>
            <a:ext cx="1096176" cy="623720"/>
          </a:xfrm>
          <a:prstGeom prst="rect">
            <a:avLst/>
          </a:prstGeom>
        </p:spPr>
      </p:pic>
      <p:sp>
        <p:nvSpPr>
          <p:cNvPr id="4" name="Datumsplatzhalter 6">
            <a:extLst>
              <a:ext uri="{FF2B5EF4-FFF2-40B4-BE49-F238E27FC236}">
                <a16:creationId xmlns:a16="http://schemas.microsoft.com/office/drawing/2014/main" id="{4C643B94-4430-3F6D-3EF9-4B0A7B62FF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349EA04-5B72-41CA-A09B-02511AF09AB8}" type="datetime1">
              <a:rPr lang="de-DE" smtClean="0"/>
              <a:t>12.03.2026</a:t>
            </a:fld>
            <a:endParaRPr lang="de-DE"/>
          </a:p>
        </p:txBody>
      </p:sp>
      <p:sp>
        <p:nvSpPr>
          <p:cNvPr id="5" name="Fußzeilenplatzhalter 7">
            <a:extLst>
              <a:ext uri="{FF2B5EF4-FFF2-40B4-BE49-F238E27FC236}">
                <a16:creationId xmlns:a16="http://schemas.microsoft.com/office/drawing/2014/main" id="{BE5A0716-C312-83F1-CB9F-F6842562D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Jörg Schaarschmidt &amp; Wolfgang Wenzel </a:t>
            </a:r>
          </a:p>
        </p:txBody>
      </p:sp>
      <p:sp>
        <p:nvSpPr>
          <p:cNvPr id="6" name="Foliennummernplatzhalter 8">
            <a:extLst>
              <a:ext uri="{FF2B5EF4-FFF2-40B4-BE49-F238E27FC236}">
                <a16:creationId xmlns:a16="http://schemas.microsoft.com/office/drawing/2014/main" id="{B408AFA0-5CA8-AEFE-3675-DBE49586D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2A7A70C-9621-4099-9D5A-A652D208DE62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1" name="Titel 20">
            <a:extLst>
              <a:ext uri="{FF2B5EF4-FFF2-40B4-BE49-F238E27FC236}">
                <a16:creationId xmlns:a16="http://schemas.microsoft.com/office/drawing/2014/main" id="{1C4EC21E-0C15-172A-1E78-4CE87B3D06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645" y="-168995"/>
            <a:ext cx="10515600" cy="1325563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1799844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noProof="0"/>
              <a:t>Mastertitelformat bearbeiten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‹Nr.›</a:t>
            </a:fld>
            <a:endParaRPr lang="en-US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909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sz="3600" noProof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‹Nr.›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24623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7" r:id="rId23"/>
    <p:sldLayoutId id="2147483699" r:id="rId24"/>
    <p:sldLayoutId id="2147483700" r:id="rId25"/>
    <p:sldLayoutId id="2147483701" r:id="rId2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36">
          <p15:clr>
            <a:srgbClr val="F26B43"/>
          </p15:clr>
        </p15:guide>
        <p15:guide id="4" orient="horz" pos="336">
          <p15:clr>
            <a:srgbClr val="F26B43"/>
          </p15:clr>
        </p15:guide>
        <p15:guide id="5" pos="7344">
          <p15:clr>
            <a:srgbClr val="F26B43"/>
          </p15:clr>
        </p15:guide>
        <p15:guide id="6" orient="horz" pos="39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imstack/simstack-onboarding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9545" y="3186756"/>
            <a:ext cx="7077456" cy="1243584"/>
          </a:xfrm>
        </p:spPr>
        <p:txBody>
          <a:bodyPr/>
          <a:lstStyle/>
          <a:p>
            <a:r>
              <a:rPr lang="en-US" dirty="0" err="1"/>
              <a:t>Simstack</a:t>
            </a:r>
            <a:r>
              <a:rPr lang="en-US" dirty="0"/>
              <a:t> II Onboarding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9545" y="4824693"/>
            <a:ext cx="7077456" cy="8686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Arial"/>
              </a:rPr>
              <a:t>Plans &amp; Status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9385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A46F5EFE-F8E9-6831-9FF6-C01D2EFDF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Onboarding Plan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5BFEB10-A25B-140C-678C-EA74799B8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</a:t>
            </a:fld>
            <a:endParaRPr lang="en-US" noProof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C10BCB0-EE36-6D06-E092-9E0729DA91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208825"/>
            <a:ext cx="11291780" cy="4093243"/>
          </a:xfrm>
        </p:spPr>
        <p:txBody>
          <a:bodyPr/>
          <a:lstStyle/>
          <a:p>
            <a:r>
              <a:rPr lang="de-DE" dirty="0"/>
              <a:t>Onboarding in </a:t>
            </a:r>
            <a:r>
              <a:rPr lang="de-DE" dirty="0" err="1"/>
              <a:t>the</a:t>
            </a:r>
            <a:r>
              <a:rPr lang="de-DE" dirty="0"/>
              <a:t> PMD </a:t>
            </a:r>
            <a:r>
              <a:rPr lang="de-DE" dirty="0" err="1"/>
              <a:t>PyIron</a:t>
            </a:r>
            <a:r>
              <a:rPr lang="de-DE" dirty="0"/>
              <a:t> Instance &amp; Onboarding </a:t>
            </a:r>
            <a:r>
              <a:rPr lang="de-DE" dirty="0" err="1"/>
              <a:t>Simstack</a:t>
            </a:r>
            <a:r>
              <a:rPr lang="de-DE" dirty="0"/>
              <a:t> Instance</a:t>
            </a:r>
          </a:p>
          <a:p>
            <a:pPr lvl="1"/>
            <a:r>
              <a:rPr lang="de-DE" dirty="0" err="1"/>
              <a:t>Participants</a:t>
            </a:r>
            <a:r>
              <a:rPr lang="de-DE" dirty="0"/>
              <a:t> </a:t>
            </a:r>
            <a:r>
              <a:rPr lang="de-DE" dirty="0" err="1"/>
              <a:t>must</a:t>
            </a:r>
            <a:r>
              <a:rPr lang="de-DE" dirty="0"/>
              <a:t> </a:t>
            </a:r>
            <a:r>
              <a:rPr lang="de-DE" dirty="0" err="1"/>
              <a:t>register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both</a:t>
            </a:r>
            <a:r>
              <a:rPr lang="de-DE" dirty="0"/>
              <a:t> </a:t>
            </a:r>
          </a:p>
          <a:p>
            <a:r>
              <a:rPr lang="de-DE" dirty="0">
                <a:solidFill>
                  <a:schemeClr val="accent1">
                    <a:lumMod val="40000"/>
                    <a:lumOff val="6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https://github.com/simstack/simstack-onboarding</a:t>
            </a:r>
            <a:r>
              <a:rPr lang="de-DE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</a:p>
          <a:p>
            <a:r>
              <a:rPr lang="de-DE" dirty="0"/>
              <a:t>12 </a:t>
            </a:r>
            <a:r>
              <a:rPr lang="de-DE" dirty="0" err="1"/>
              <a:t>steps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installation</a:t>
            </a:r>
            <a:r>
              <a:rPr lang="de-DE" dirty="0"/>
              <a:t> (15 </a:t>
            </a:r>
            <a:r>
              <a:rPr lang="de-DE" dirty="0" err="1"/>
              <a:t>minutes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experts</a:t>
            </a:r>
            <a:r>
              <a:rPr lang="de-DE" dirty="0"/>
              <a:t> -&gt; </a:t>
            </a:r>
            <a:r>
              <a:rPr lang="de-DE" dirty="0" err="1"/>
              <a:t>move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)</a:t>
            </a:r>
          </a:p>
          <a:p>
            <a:r>
              <a:rPr lang="de-DE" dirty="0"/>
              <a:t>UI Intro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preconfigured</a:t>
            </a:r>
            <a:r>
              <a:rPr lang="de-DE" dirty="0"/>
              <a:t> WF (15 </a:t>
            </a:r>
            <a:r>
              <a:rPr lang="de-DE" dirty="0" err="1"/>
              <a:t>minutes</a:t>
            </a:r>
            <a:r>
              <a:rPr lang="de-DE" dirty="0"/>
              <a:t> </a:t>
            </a:r>
            <a:r>
              <a:rPr lang="de-DE" dirty="0" err="1"/>
              <a:t>clickfest</a:t>
            </a:r>
            <a:r>
              <a:rPr lang="de-DE" dirty="0"/>
              <a:t>) -&gt; </a:t>
            </a:r>
            <a:r>
              <a:rPr lang="de-DE" dirty="0" err="1"/>
              <a:t>Presentation</a:t>
            </a:r>
            <a:endParaRPr lang="de-DE" dirty="0"/>
          </a:p>
          <a:p>
            <a:r>
              <a:rPr lang="de-DE" dirty="0"/>
              <a:t>Write &amp; Run a trivial </a:t>
            </a:r>
            <a:r>
              <a:rPr lang="de-DE" dirty="0" err="1"/>
              <a:t>workflow</a:t>
            </a:r>
            <a:r>
              <a:rPr lang="de-DE" dirty="0"/>
              <a:t> (~ 20 </a:t>
            </a:r>
            <a:r>
              <a:rPr lang="de-DE" dirty="0" err="1"/>
              <a:t>minutes</a:t>
            </a:r>
            <a:r>
              <a:rPr lang="de-DE" dirty="0"/>
              <a:t>)</a:t>
            </a:r>
          </a:p>
          <a:p>
            <a:r>
              <a:rPr lang="de-DE" dirty="0"/>
              <a:t>ML Workflows (30 </a:t>
            </a:r>
            <a:r>
              <a:rPr lang="de-DE" dirty="0" err="1"/>
              <a:t>minutes</a:t>
            </a:r>
            <a:r>
              <a:rPr lang="de-DE" dirty="0"/>
              <a:t> +)</a:t>
            </a:r>
          </a:p>
          <a:p>
            <a:r>
              <a:rPr lang="de-DE" dirty="0"/>
              <a:t>Outlook (</a:t>
            </a:r>
            <a:r>
              <a:rPr lang="de-DE" dirty="0" err="1"/>
              <a:t>things</a:t>
            </a:r>
            <a:r>
              <a:rPr lang="de-DE" dirty="0"/>
              <a:t> not </a:t>
            </a:r>
            <a:r>
              <a:rPr lang="de-DE" dirty="0" err="1"/>
              <a:t>covered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Aggregation</a:t>
            </a:r>
          </a:p>
          <a:p>
            <a:pPr lvl="1"/>
            <a:r>
              <a:rPr lang="de-DE" dirty="0" err="1"/>
              <a:t>Advanced</a:t>
            </a:r>
            <a:r>
              <a:rPr lang="de-DE" dirty="0"/>
              <a:t> Datasets </a:t>
            </a:r>
          </a:p>
          <a:p>
            <a:pPr lvl="1"/>
            <a:r>
              <a:rPr lang="de-DE" dirty="0" err="1"/>
              <a:t>Artifacts</a:t>
            </a:r>
            <a:endParaRPr lang="de-DE" dirty="0"/>
          </a:p>
          <a:p>
            <a:pPr lvl="1"/>
            <a:r>
              <a:rPr lang="de-DE" dirty="0" err="1"/>
              <a:t>Semantics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09506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3CDD0-683D-786F-EDF0-4FC55FDDF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74F9D2E0-BB51-2C2C-07B7-79BE65952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UI Intro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AA9B55F-1B79-535B-8D27-3CDEE6214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</a:t>
            </a:fld>
            <a:endParaRPr lang="en-US" noProof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9856116-6684-6BF4-2B00-0AD783EFA8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Submit</a:t>
            </a:r>
            <a:r>
              <a:rPr lang="de-DE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Jobs</a:t>
            </a:r>
          </a:p>
          <a:p>
            <a:r>
              <a:rPr lang="de-DE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Status?</a:t>
            </a:r>
          </a:p>
          <a:p>
            <a:r>
              <a:rPr lang="de-DE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Results</a:t>
            </a:r>
            <a:r>
              <a:rPr lang="de-DE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? </a:t>
            </a:r>
          </a:p>
          <a:p>
            <a:r>
              <a:rPr lang="de-DE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Making Plots </a:t>
            </a:r>
          </a:p>
          <a:p>
            <a:r>
              <a:rPr lang="de-DE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Datasets </a:t>
            </a:r>
          </a:p>
          <a:p>
            <a:r>
              <a:rPr lang="de-DE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Health</a:t>
            </a:r>
          </a:p>
          <a:p>
            <a:r>
              <a:rPr lang="de-DE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Configuration</a:t>
            </a:r>
            <a:r>
              <a:rPr lang="de-DE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4127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52720-2B12-9C67-8309-0507FDD4F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C96D270-5DDB-4A80-5EE0-D31FF03CA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719" y="1362628"/>
            <a:ext cx="5148607" cy="95244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rial"/>
                <a:cs typeface="Arial"/>
              </a:rPr>
              <a:t>We need better (human accessible) tools to analyze  …..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B505D6-7699-4D93-048F-C1FD63885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 Light"/>
                <a:ea typeface="Calibri Light"/>
                <a:cs typeface="Calibri Light"/>
              </a:rPr>
              <a:t>Python Workflows &amp; Experiment Tracking</a:t>
            </a:r>
            <a:endParaRPr lang="en-US" sz="3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5782F9-6F00-76E5-C2C6-0D16C7EFD423}"/>
              </a:ext>
            </a:extLst>
          </p:cNvPr>
          <p:cNvSpPr txBox="1"/>
          <p:nvPr/>
        </p:nvSpPr>
        <p:spPr>
          <a:xfrm>
            <a:off x="2190401" y="372492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930FCB63-3B3A-1EA7-3ACB-65E980D08A43}"/>
              </a:ext>
            </a:extLst>
          </p:cNvPr>
          <p:cNvSpPr/>
          <p:nvPr/>
        </p:nvSpPr>
        <p:spPr>
          <a:xfrm>
            <a:off x="1595993" y="2993572"/>
            <a:ext cx="2852057" cy="8164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Experiment Tracker</a:t>
            </a:r>
          </a:p>
          <a:p>
            <a:pPr algn="ctr"/>
            <a:r>
              <a:rPr lang="de-DE" dirty="0"/>
              <a:t>(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)</a:t>
            </a:r>
          </a:p>
        </p:txBody>
      </p:sp>
      <p:sp>
        <p:nvSpPr>
          <p:cNvPr id="9" name="Pfeil: nach oben und unten 8">
            <a:extLst>
              <a:ext uri="{FF2B5EF4-FFF2-40B4-BE49-F238E27FC236}">
                <a16:creationId xmlns:a16="http://schemas.microsoft.com/office/drawing/2014/main" id="{2C502E37-B0BF-18A3-96A4-3E4D9DFDE126}"/>
              </a:ext>
            </a:extLst>
          </p:cNvPr>
          <p:cNvSpPr/>
          <p:nvPr/>
        </p:nvSpPr>
        <p:spPr>
          <a:xfrm rot="5400000">
            <a:off x="5962272" y="2419672"/>
            <a:ext cx="418900" cy="2013415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A746683-34EC-5AFC-F253-C6B2A53751E5}"/>
              </a:ext>
            </a:extLst>
          </p:cNvPr>
          <p:cNvSpPr/>
          <p:nvPr/>
        </p:nvSpPr>
        <p:spPr>
          <a:xfrm>
            <a:off x="326571" y="4853115"/>
            <a:ext cx="2569029" cy="95244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Python </a:t>
            </a:r>
            <a:r>
              <a:rPr lang="de-DE" dirty="0" err="1"/>
              <a:t>Worklow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655648D-643C-2EFD-3120-6309FC5F3C16}"/>
              </a:ext>
            </a:extLst>
          </p:cNvPr>
          <p:cNvSpPr/>
          <p:nvPr/>
        </p:nvSpPr>
        <p:spPr>
          <a:xfrm>
            <a:off x="4017763" y="4822028"/>
            <a:ext cx="2569029" cy="952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Artifacts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(Human </a:t>
            </a:r>
            <a:r>
              <a:rPr lang="de-DE" dirty="0" err="1"/>
              <a:t>Readable</a:t>
            </a:r>
            <a:r>
              <a:rPr lang="de-DE" dirty="0"/>
              <a:t> Data)</a:t>
            </a:r>
          </a:p>
        </p:txBody>
      </p:sp>
      <p:sp>
        <p:nvSpPr>
          <p:cNvPr id="15" name="Pfeil: nach rechts 14">
            <a:extLst>
              <a:ext uri="{FF2B5EF4-FFF2-40B4-BE49-F238E27FC236}">
                <a16:creationId xmlns:a16="http://schemas.microsoft.com/office/drawing/2014/main" id="{DA0BD942-D78D-2020-5D33-7919ECDA0990}"/>
              </a:ext>
            </a:extLst>
          </p:cNvPr>
          <p:cNvSpPr/>
          <p:nvPr/>
        </p:nvSpPr>
        <p:spPr>
          <a:xfrm>
            <a:off x="3163536" y="5129612"/>
            <a:ext cx="664029" cy="3657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1756A963-8E74-7227-CFE9-C16F878D3B5E}"/>
              </a:ext>
            </a:extLst>
          </p:cNvPr>
          <p:cNvSpPr/>
          <p:nvPr/>
        </p:nvSpPr>
        <p:spPr>
          <a:xfrm rot="14070014" flipV="1">
            <a:off x="3859777" y="4082086"/>
            <a:ext cx="664029" cy="3657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Image 1" descr="preencoded.png"/>
          <p:cNvPicPr>
            <a:picLocks noGrp="1" noChangeAspect="1"/>
          </p:cNvPicPr>
          <p:nvPr>
            <p:ph sz="quarter" idx="4"/>
          </p:nvPr>
        </p:nvPicPr>
        <p:blipFill>
          <a:blip r:embed="rId2"/>
          <a:srcRect l="15789" r="16469"/>
          <a:stretch>
            <a:fillRect/>
          </a:stretch>
        </p:blipFill>
        <p:spPr>
          <a:xfrm>
            <a:off x="6943578" y="2241550"/>
            <a:ext cx="4437357" cy="3684588"/>
          </a:xfrm>
          <a:prstGeom prst="rect">
            <a:avLst/>
          </a:prstGeom>
        </p:spPr>
      </p:pic>
      <p:pic>
        <p:nvPicPr>
          <p:cNvPr id="19" name="Grafik 18" descr="Ein Bild, das Schrift, Screenshot, Grafiken, Electric Blue (Farbe) enthält.&#10;&#10;KI-generierte Inhalte können fehlerhaft sein.">
            <a:extLst>
              <a:ext uri="{FF2B5EF4-FFF2-40B4-BE49-F238E27FC236}">
                <a16:creationId xmlns:a16="http://schemas.microsoft.com/office/drawing/2014/main" id="{04775F40-96F6-5692-2C9B-34820F939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59771">
            <a:off x="7931824" y="1580341"/>
            <a:ext cx="2460863" cy="671145"/>
          </a:xfrm>
          <a:prstGeom prst="rect">
            <a:avLst/>
          </a:prstGeom>
          <a:ln w="127000" cap="sq">
            <a:solidFill>
              <a:srgbClr val="92D05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49592D-6F4B-3E34-E5F0-1019C98B2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3FFF4-ECC4-435F-A94E-B066FA98BFD4}" type="datetime1">
              <a:rPr lang="de-DE" smtClean="0"/>
              <a:t>12.03.2026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57A29B-3691-BBB1-8DA2-86F2F5185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Jörg Schaarschmidt &amp; Wolfgang Wenzel 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064B19-920C-66C0-3548-A450CB1A7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7A70C-9621-4099-9D5A-A652D208DE62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9885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B43FF-8007-D571-2142-5496B9B61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UI UX mit einfarbiger Füllung">
            <a:extLst>
              <a:ext uri="{FF2B5EF4-FFF2-40B4-BE49-F238E27FC236}">
                <a16:creationId xmlns:a16="http://schemas.microsoft.com/office/drawing/2014/main" id="{80AE7259-5D74-5693-FC34-F0A04310F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1982" y="700767"/>
            <a:ext cx="2079171" cy="2079171"/>
          </a:xfrm>
          <a:prstGeom prst="rect">
            <a:avLst/>
          </a:prstGeom>
        </p:spPr>
      </p:pic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0FC860AA-086D-5AED-9FFE-8299E3706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994D-7F00-4EAE-85E0-9C5E978EF65D}" type="datetime1">
              <a:rPr lang="de-DE" smtClean="0"/>
              <a:t>12.03.2026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4FAFF29-B371-0662-24AE-65F6C57C3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Jörg Schaarschmidt &amp; Wolfgang Wenzel 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5551287-CB95-C948-DAB5-B9E8D83F0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7A70C-9621-4099-9D5A-A652D208DE62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2C4E4602-CEB9-D481-5EBF-B5B50AB44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Architecture 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F42D424-71CB-CF97-030A-21E5D1A44CCF}"/>
              </a:ext>
            </a:extLst>
          </p:cNvPr>
          <p:cNvSpPr txBox="1"/>
          <p:nvPr/>
        </p:nvSpPr>
        <p:spPr>
          <a:xfrm>
            <a:off x="1113914" y="2768080"/>
            <a:ext cx="3184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 err="1">
                <a:solidFill>
                  <a:schemeClr val="bg1"/>
                </a:solidFill>
              </a:rPr>
              <a:t>Graphical</a:t>
            </a:r>
            <a:r>
              <a:rPr lang="de-DE" sz="2000" b="1" dirty="0">
                <a:solidFill>
                  <a:schemeClr val="bg1"/>
                </a:solidFill>
              </a:rPr>
              <a:t> User </a:t>
            </a:r>
            <a:r>
              <a:rPr lang="de-DE" sz="2000" b="1" dirty="0" err="1">
                <a:solidFill>
                  <a:schemeClr val="bg1"/>
                </a:solidFill>
              </a:rPr>
              <a:t>Ínterface</a:t>
            </a:r>
            <a:endParaRPr lang="de-DE" sz="2000" b="1" dirty="0">
              <a:solidFill>
                <a:schemeClr val="bg1"/>
              </a:solidFill>
            </a:endParaRP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E6BD736C-7E46-2F35-8364-879F7FF8DFE1}"/>
              </a:ext>
            </a:extLst>
          </p:cNvPr>
          <p:cNvSpPr/>
          <p:nvPr/>
        </p:nvSpPr>
        <p:spPr>
          <a:xfrm>
            <a:off x="6678386" y="2168979"/>
            <a:ext cx="3929742" cy="990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/>
              <a:t>Python Code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D7E2D5A8-6F80-4ABF-3C5D-7E38EEAE20AC}"/>
              </a:ext>
            </a:extLst>
          </p:cNvPr>
          <p:cNvSpPr/>
          <p:nvPr/>
        </p:nvSpPr>
        <p:spPr>
          <a:xfrm>
            <a:off x="6678386" y="336452"/>
            <a:ext cx="3929742" cy="9906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400" dirty="0"/>
              <a:t>UI Elements</a:t>
            </a:r>
          </a:p>
        </p:txBody>
      </p:sp>
      <p:sp>
        <p:nvSpPr>
          <p:cNvPr id="15" name="Pfeil: nach oben 14">
            <a:extLst>
              <a:ext uri="{FF2B5EF4-FFF2-40B4-BE49-F238E27FC236}">
                <a16:creationId xmlns:a16="http://schemas.microsoft.com/office/drawing/2014/main" id="{E19D01B3-8017-93AA-67FD-99F2DF8835A8}"/>
              </a:ext>
            </a:extLst>
          </p:cNvPr>
          <p:cNvSpPr/>
          <p:nvPr/>
        </p:nvSpPr>
        <p:spPr>
          <a:xfrm>
            <a:off x="8326454" y="1446341"/>
            <a:ext cx="457200" cy="566057"/>
          </a:xfrm>
          <a:prstGeom prst="upArrow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Pfeil: nach oben 15">
            <a:extLst>
              <a:ext uri="{FF2B5EF4-FFF2-40B4-BE49-F238E27FC236}">
                <a16:creationId xmlns:a16="http://schemas.microsoft.com/office/drawing/2014/main" id="{AE29B441-34D2-949F-DFF2-6382FD36D0F8}"/>
              </a:ext>
            </a:extLst>
          </p:cNvPr>
          <p:cNvSpPr/>
          <p:nvPr/>
        </p:nvSpPr>
        <p:spPr>
          <a:xfrm rot="15379118">
            <a:off x="4753219" y="83170"/>
            <a:ext cx="457200" cy="2532998"/>
          </a:xfrm>
          <a:prstGeom prst="upArrow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056CB010-2AE1-D53C-2C28-CD2555A70C1C}"/>
              </a:ext>
            </a:extLst>
          </p:cNvPr>
          <p:cNvSpPr/>
          <p:nvPr/>
        </p:nvSpPr>
        <p:spPr>
          <a:xfrm>
            <a:off x="1113914" y="3453487"/>
            <a:ext cx="3234576" cy="99060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/>
              <a:t>Workflow Generation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9211976B-7FBA-2A27-057E-CB48C00157FC}"/>
              </a:ext>
            </a:extLst>
          </p:cNvPr>
          <p:cNvSpPr/>
          <p:nvPr/>
        </p:nvSpPr>
        <p:spPr>
          <a:xfrm>
            <a:off x="6645729" y="3975929"/>
            <a:ext cx="3929742" cy="990600"/>
          </a:xfrm>
          <a:prstGeom prst="roundRect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Workflow </a:t>
            </a:r>
            <a:r>
              <a:rPr lang="de-DE" sz="2400" dirty="0" err="1">
                <a:solidFill>
                  <a:schemeClr val="tx1"/>
                </a:solidFill>
              </a:rPr>
              <a:t>Execution</a:t>
            </a:r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19" name="Pfeil: nach oben 18">
            <a:extLst>
              <a:ext uri="{FF2B5EF4-FFF2-40B4-BE49-F238E27FC236}">
                <a16:creationId xmlns:a16="http://schemas.microsoft.com/office/drawing/2014/main" id="{F9CCEB02-D0D0-D3F8-DE70-3E8A9A906CD1}"/>
              </a:ext>
            </a:extLst>
          </p:cNvPr>
          <p:cNvSpPr/>
          <p:nvPr/>
        </p:nvSpPr>
        <p:spPr>
          <a:xfrm rot="10800000">
            <a:off x="8382000" y="3315449"/>
            <a:ext cx="457200" cy="566057"/>
          </a:xfrm>
          <a:prstGeom prst="upArrow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Pfeil: nach oben 20">
            <a:extLst>
              <a:ext uri="{FF2B5EF4-FFF2-40B4-BE49-F238E27FC236}">
                <a16:creationId xmlns:a16="http://schemas.microsoft.com/office/drawing/2014/main" id="{0813F907-4935-95D8-67BD-38E7CF2FFA14}"/>
              </a:ext>
            </a:extLst>
          </p:cNvPr>
          <p:cNvSpPr/>
          <p:nvPr/>
        </p:nvSpPr>
        <p:spPr>
          <a:xfrm rot="6364931">
            <a:off x="5301876" y="3316266"/>
            <a:ext cx="488792" cy="1938139"/>
          </a:xfrm>
          <a:prstGeom prst="upArrow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: eine Ecke abgeschnitten 22">
            <a:extLst>
              <a:ext uri="{FF2B5EF4-FFF2-40B4-BE49-F238E27FC236}">
                <a16:creationId xmlns:a16="http://schemas.microsoft.com/office/drawing/2014/main" id="{B313CD07-65BA-6CD1-6087-4DEE58EC3C02}"/>
              </a:ext>
            </a:extLst>
          </p:cNvPr>
          <p:cNvSpPr/>
          <p:nvPr/>
        </p:nvSpPr>
        <p:spPr>
          <a:xfrm>
            <a:off x="6134776" y="5808456"/>
            <a:ext cx="1582148" cy="634152"/>
          </a:xfrm>
          <a:prstGeom prst="snip1Rect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Artifacts</a:t>
            </a:r>
            <a:endParaRPr lang="de-DE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Rechteck: eine Ecke abgeschnitten 23">
            <a:extLst>
              <a:ext uri="{FF2B5EF4-FFF2-40B4-BE49-F238E27FC236}">
                <a16:creationId xmlns:a16="http://schemas.microsoft.com/office/drawing/2014/main" id="{14589AB4-F03D-D965-4AAA-44ED83978247}"/>
              </a:ext>
            </a:extLst>
          </p:cNvPr>
          <p:cNvSpPr/>
          <p:nvPr/>
        </p:nvSpPr>
        <p:spPr>
          <a:xfrm>
            <a:off x="9191126" y="5765328"/>
            <a:ext cx="1582148" cy="634152"/>
          </a:xfrm>
          <a:prstGeom prst="snip1Rect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</a:t>
            </a:r>
          </a:p>
        </p:txBody>
      </p:sp>
      <p:sp>
        <p:nvSpPr>
          <p:cNvPr id="25" name="Pfeil: nach oben 24">
            <a:extLst>
              <a:ext uri="{FF2B5EF4-FFF2-40B4-BE49-F238E27FC236}">
                <a16:creationId xmlns:a16="http://schemas.microsoft.com/office/drawing/2014/main" id="{9CCBBCD1-1897-97AC-F8AC-EF2ED252E7A9}"/>
              </a:ext>
            </a:extLst>
          </p:cNvPr>
          <p:cNvSpPr/>
          <p:nvPr/>
        </p:nvSpPr>
        <p:spPr>
          <a:xfrm rot="12470936">
            <a:off x="6975465" y="5045745"/>
            <a:ext cx="488792" cy="688408"/>
          </a:xfrm>
          <a:prstGeom prst="upArrow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Pfeil: nach oben 25">
            <a:extLst>
              <a:ext uri="{FF2B5EF4-FFF2-40B4-BE49-F238E27FC236}">
                <a16:creationId xmlns:a16="http://schemas.microsoft.com/office/drawing/2014/main" id="{1A256909-C10F-1CA5-7183-A0F607187509}"/>
              </a:ext>
            </a:extLst>
          </p:cNvPr>
          <p:cNvSpPr/>
          <p:nvPr/>
        </p:nvSpPr>
        <p:spPr>
          <a:xfrm rot="8179574">
            <a:off x="9516315" y="5046527"/>
            <a:ext cx="488792" cy="688408"/>
          </a:xfrm>
          <a:prstGeom prst="upArrow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Pfeil: 180-Grad 27">
            <a:extLst>
              <a:ext uri="{FF2B5EF4-FFF2-40B4-BE49-F238E27FC236}">
                <a16:creationId xmlns:a16="http://schemas.microsoft.com/office/drawing/2014/main" id="{48AE51EE-8E71-1B8C-4C51-324DCFF80244}"/>
              </a:ext>
            </a:extLst>
          </p:cNvPr>
          <p:cNvSpPr/>
          <p:nvPr/>
        </p:nvSpPr>
        <p:spPr>
          <a:xfrm rot="16200000">
            <a:off x="533122" y="957206"/>
            <a:ext cx="4910008" cy="5649701"/>
          </a:xfrm>
          <a:prstGeom prst="uturnArrow">
            <a:avLst>
              <a:gd name="adj1" fmla="val 5496"/>
              <a:gd name="adj2" fmla="val 5282"/>
              <a:gd name="adj3" fmla="val 8096"/>
              <a:gd name="adj4" fmla="val 27475"/>
              <a:gd name="adj5" fmla="val 21011"/>
            </a:avLst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pic>
        <p:nvPicPr>
          <p:cNvPr id="2" name="Grafik 1" descr="Ein Bild, das Text, Screenshot, Software, Multimedia-Software enthält.&#10;&#10;KI-generierte Inhalte können fehlerhaft sein.">
            <a:extLst>
              <a:ext uri="{FF2B5EF4-FFF2-40B4-BE49-F238E27FC236}">
                <a16:creationId xmlns:a16="http://schemas.microsoft.com/office/drawing/2014/main" id="{703541E6-A96E-FB11-98EB-5B05982212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759" t="23906" r="17296" b="14259"/>
          <a:stretch>
            <a:fillRect/>
          </a:stretch>
        </p:blipFill>
        <p:spPr>
          <a:xfrm>
            <a:off x="5464291" y="175290"/>
            <a:ext cx="6441068" cy="3773181"/>
          </a:xfrm>
          <a:prstGeom prst="rect">
            <a:avLst/>
          </a:prstGeom>
        </p:spPr>
      </p:pic>
      <p:pic>
        <p:nvPicPr>
          <p:cNvPr id="4" name="Grafik 3" descr="Ein Bild, das Text, Screenshot, Software, Multimedia-Software enthält.&#10;&#10;KI-generierte Inhalte können fehlerhaft sein.">
            <a:extLst>
              <a:ext uri="{FF2B5EF4-FFF2-40B4-BE49-F238E27FC236}">
                <a16:creationId xmlns:a16="http://schemas.microsoft.com/office/drawing/2014/main" id="{D1C48DF8-2A08-8EE3-02C2-9A26F0BE7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0675" y="1168201"/>
            <a:ext cx="8746434" cy="5560540"/>
          </a:xfrm>
          <a:prstGeom prst="rect">
            <a:avLst/>
          </a:prstGeom>
        </p:spPr>
      </p:pic>
      <p:sp>
        <p:nvSpPr>
          <p:cNvPr id="3" name="Flussdiagramm: Mehrere Dokumente 2">
            <a:extLst>
              <a:ext uri="{FF2B5EF4-FFF2-40B4-BE49-F238E27FC236}">
                <a16:creationId xmlns:a16="http://schemas.microsoft.com/office/drawing/2014/main" id="{01831AE9-CBAF-09C8-3BF1-D47322F5B22A}"/>
              </a:ext>
            </a:extLst>
          </p:cNvPr>
          <p:cNvSpPr/>
          <p:nvPr/>
        </p:nvSpPr>
        <p:spPr>
          <a:xfrm>
            <a:off x="2988126" y="4506133"/>
            <a:ext cx="3869500" cy="1651100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Submitting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WF Run </a:t>
            </a:r>
            <a:r>
              <a:rPr lang="de-DE" dirty="0" err="1"/>
              <a:t>stores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top </a:t>
            </a:r>
            <a:r>
              <a:rPr lang="de-DE" dirty="0" err="1"/>
              <a:t>node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„</a:t>
            </a:r>
            <a:r>
              <a:rPr lang="de-DE" dirty="0" err="1"/>
              <a:t>submitted</a:t>
            </a:r>
            <a:r>
              <a:rPr lang="de-DE" dirty="0"/>
              <a:t>“ in </a:t>
            </a:r>
            <a:r>
              <a:rPr lang="de-DE" dirty="0" err="1"/>
              <a:t>the</a:t>
            </a:r>
            <a:r>
              <a:rPr lang="de-DE" dirty="0"/>
              <a:t> DB</a:t>
            </a:r>
          </a:p>
        </p:txBody>
      </p:sp>
    </p:spTree>
    <p:extLst>
      <p:ext uri="{BB962C8B-B14F-4D97-AF65-F5344CB8AC3E}">
        <p14:creationId xmlns:p14="http://schemas.microsoft.com/office/powerpoint/2010/main" val="929679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C438F4DF-0735-0A47-8D05-4F24AE80B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A4231-F554-4B1E-9332-B5FB4E0806EC}" type="datetime1">
              <a:rPr lang="de-DE" smtClean="0"/>
              <a:t>12.03.2026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2F7314B-33A4-3195-4355-6A22468D9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Jörg Schaarschmidt &amp; Wolfgang Wenzel 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BA975A2C-6D45-5E52-5357-7D1BB66D3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7A70C-9621-4099-9D5A-A652D208DE62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3A827DF6-A6AF-ACB2-3F02-B2E47B0EA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Architecture </a:t>
            </a:r>
          </a:p>
        </p:txBody>
      </p:sp>
      <p:pic>
        <p:nvPicPr>
          <p:cNvPr id="11" name="Grafik 10" descr="UI UX mit einfarbiger Füllung">
            <a:extLst>
              <a:ext uri="{FF2B5EF4-FFF2-40B4-BE49-F238E27FC236}">
                <a16:creationId xmlns:a16="http://schemas.microsoft.com/office/drawing/2014/main" id="{9B5E7C32-2DB3-A0B6-3C7F-92F2367E9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02229" y="757942"/>
            <a:ext cx="2079171" cy="2079171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37EC8DD7-F29B-E6E4-2C1F-AF4D07DA09C3}"/>
              </a:ext>
            </a:extLst>
          </p:cNvPr>
          <p:cNvSpPr txBox="1"/>
          <p:nvPr/>
        </p:nvSpPr>
        <p:spPr>
          <a:xfrm>
            <a:off x="1212572" y="2738717"/>
            <a:ext cx="3551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 err="1">
                <a:solidFill>
                  <a:schemeClr val="bg1"/>
                </a:solidFill>
              </a:rPr>
              <a:t>Graphical</a:t>
            </a:r>
            <a:r>
              <a:rPr lang="de-DE" sz="2000" b="1" dirty="0">
                <a:solidFill>
                  <a:schemeClr val="bg1"/>
                </a:solidFill>
              </a:rPr>
              <a:t> User </a:t>
            </a:r>
            <a:r>
              <a:rPr lang="de-DE" sz="2000" b="1" dirty="0" err="1">
                <a:solidFill>
                  <a:schemeClr val="bg1"/>
                </a:solidFill>
              </a:rPr>
              <a:t>Înterface</a:t>
            </a:r>
            <a:endParaRPr lang="de-DE" sz="2000" b="1" dirty="0">
              <a:solidFill>
                <a:schemeClr val="bg1"/>
              </a:solidFill>
            </a:endParaRP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F0481791-3F39-F911-6A2F-C59CCBBA00ED}"/>
              </a:ext>
            </a:extLst>
          </p:cNvPr>
          <p:cNvSpPr/>
          <p:nvPr/>
        </p:nvSpPr>
        <p:spPr>
          <a:xfrm>
            <a:off x="6678386" y="2168979"/>
            <a:ext cx="3929742" cy="990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/>
              <a:t>Python Code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0A2AAE84-E6AE-E4AE-73B9-6AEA10428262}"/>
              </a:ext>
            </a:extLst>
          </p:cNvPr>
          <p:cNvSpPr/>
          <p:nvPr/>
        </p:nvSpPr>
        <p:spPr>
          <a:xfrm>
            <a:off x="6678386" y="336452"/>
            <a:ext cx="3929742" cy="9906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400" dirty="0"/>
              <a:t>UI Elements</a:t>
            </a:r>
          </a:p>
        </p:txBody>
      </p:sp>
      <p:sp>
        <p:nvSpPr>
          <p:cNvPr id="15" name="Pfeil: nach oben 14">
            <a:extLst>
              <a:ext uri="{FF2B5EF4-FFF2-40B4-BE49-F238E27FC236}">
                <a16:creationId xmlns:a16="http://schemas.microsoft.com/office/drawing/2014/main" id="{D2F3040F-1F23-E9D8-726D-4519DA891228}"/>
              </a:ext>
            </a:extLst>
          </p:cNvPr>
          <p:cNvSpPr/>
          <p:nvPr/>
        </p:nvSpPr>
        <p:spPr>
          <a:xfrm>
            <a:off x="8326454" y="1446341"/>
            <a:ext cx="457200" cy="566057"/>
          </a:xfrm>
          <a:prstGeom prst="upArrow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Pfeil: nach oben 15">
            <a:extLst>
              <a:ext uri="{FF2B5EF4-FFF2-40B4-BE49-F238E27FC236}">
                <a16:creationId xmlns:a16="http://schemas.microsoft.com/office/drawing/2014/main" id="{EE3C2594-0A8F-ED2C-CE5B-9DE616D0D818}"/>
              </a:ext>
            </a:extLst>
          </p:cNvPr>
          <p:cNvSpPr/>
          <p:nvPr/>
        </p:nvSpPr>
        <p:spPr>
          <a:xfrm rot="15379118">
            <a:off x="4753219" y="83170"/>
            <a:ext cx="457200" cy="2532998"/>
          </a:xfrm>
          <a:prstGeom prst="upArrow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29210948-9ADA-7158-C99A-DE761503CA4A}"/>
              </a:ext>
            </a:extLst>
          </p:cNvPr>
          <p:cNvSpPr/>
          <p:nvPr/>
        </p:nvSpPr>
        <p:spPr>
          <a:xfrm>
            <a:off x="1113914" y="3453487"/>
            <a:ext cx="3234576" cy="99060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/>
              <a:t>Workflow Generation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6ED86466-5FDE-A7C6-E388-9B3C092E86E2}"/>
              </a:ext>
            </a:extLst>
          </p:cNvPr>
          <p:cNvSpPr/>
          <p:nvPr/>
        </p:nvSpPr>
        <p:spPr>
          <a:xfrm>
            <a:off x="6645729" y="3975929"/>
            <a:ext cx="3929742" cy="990600"/>
          </a:xfrm>
          <a:prstGeom prst="roundRect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Workflow </a:t>
            </a:r>
            <a:r>
              <a:rPr lang="de-DE" sz="2400" dirty="0" err="1">
                <a:solidFill>
                  <a:schemeClr val="tx1"/>
                </a:solidFill>
              </a:rPr>
              <a:t>Execution</a:t>
            </a:r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19" name="Pfeil: nach oben 18">
            <a:extLst>
              <a:ext uri="{FF2B5EF4-FFF2-40B4-BE49-F238E27FC236}">
                <a16:creationId xmlns:a16="http://schemas.microsoft.com/office/drawing/2014/main" id="{F4B46B7A-7F2A-A46A-69A3-02250DA3D23C}"/>
              </a:ext>
            </a:extLst>
          </p:cNvPr>
          <p:cNvSpPr/>
          <p:nvPr/>
        </p:nvSpPr>
        <p:spPr>
          <a:xfrm rot="10800000">
            <a:off x="8382000" y="3315449"/>
            <a:ext cx="457200" cy="566057"/>
          </a:xfrm>
          <a:prstGeom prst="upArrow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Pfeil: nach oben 20">
            <a:extLst>
              <a:ext uri="{FF2B5EF4-FFF2-40B4-BE49-F238E27FC236}">
                <a16:creationId xmlns:a16="http://schemas.microsoft.com/office/drawing/2014/main" id="{D61380E6-F77B-9CE9-DC04-911D5A17E670}"/>
              </a:ext>
            </a:extLst>
          </p:cNvPr>
          <p:cNvSpPr/>
          <p:nvPr/>
        </p:nvSpPr>
        <p:spPr>
          <a:xfrm rot="6364931">
            <a:off x="5301876" y="3316266"/>
            <a:ext cx="488792" cy="1938139"/>
          </a:xfrm>
          <a:prstGeom prst="upArrow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: eine Ecke abgeschnitten 22">
            <a:extLst>
              <a:ext uri="{FF2B5EF4-FFF2-40B4-BE49-F238E27FC236}">
                <a16:creationId xmlns:a16="http://schemas.microsoft.com/office/drawing/2014/main" id="{75C4F2BB-5039-4719-C2D9-D4C9281E6D89}"/>
              </a:ext>
            </a:extLst>
          </p:cNvPr>
          <p:cNvSpPr/>
          <p:nvPr/>
        </p:nvSpPr>
        <p:spPr>
          <a:xfrm>
            <a:off x="6134776" y="5808456"/>
            <a:ext cx="1582148" cy="634152"/>
          </a:xfrm>
          <a:prstGeom prst="snip1Rect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Artifacts</a:t>
            </a:r>
            <a:endParaRPr lang="de-DE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Rechteck: eine Ecke abgeschnitten 23">
            <a:extLst>
              <a:ext uri="{FF2B5EF4-FFF2-40B4-BE49-F238E27FC236}">
                <a16:creationId xmlns:a16="http://schemas.microsoft.com/office/drawing/2014/main" id="{AF7D007A-1164-F3FD-40CF-08A2AAD4E8F8}"/>
              </a:ext>
            </a:extLst>
          </p:cNvPr>
          <p:cNvSpPr/>
          <p:nvPr/>
        </p:nvSpPr>
        <p:spPr>
          <a:xfrm>
            <a:off x="9191126" y="5765328"/>
            <a:ext cx="1582148" cy="634152"/>
          </a:xfrm>
          <a:prstGeom prst="snip1Rect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</a:t>
            </a:r>
          </a:p>
        </p:txBody>
      </p:sp>
      <p:sp>
        <p:nvSpPr>
          <p:cNvPr id="25" name="Pfeil: nach oben 24">
            <a:extLst>
              <a:ext uri="{FF2B5EF4-FFF2-40B4-BE49-F238E27FC236}">
                <a16:creationId xmlns:a16="http://schemas.microsoft.com/office/drawing/2014/main" id="{110FB3BD-88F2-DE74-EFEB-4B740A6BA93C}"/>
              </a:ext>
            </a:extLst>
          </p:cNvPr>
          <p:cNvSpPr/>
          <p:nvPr/>
        </p:nvSpPr>
        <p:spPr>
          <a:xfrm rot="12470936">
            <a:off x="6975465" y="5045745"/>
            <a:ext cx="488792" cy="688408"/>
          </a:xfrm>
          <a:prstGeom prst="upArrow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Pfeil: nach oben 25">
            <a:extLst>
              <a:ext uri="{FF2B5EF4-FFF2-40B4-BE49-F238E27FC236}">
                <a16:creationId xmlns:a16="http://schemas.microsoft.com/office/drawing/2014/main" id="{C1AA2758-C4E4-5BBC-0353-E54B3C7A20AA}"/>
              </a:ext>
            </a:extLst>
          </p:cNvPr>
          <p:cNvSpPr/>
          <p:nvPr/>
        </p:nvSpPr>
        <p:spPr>
          <a:xfrm rot="8179574">
            <a:off x="9516315" y="5046527"/>
            <a:ext cx="488792" cy="688408"/>
          </a:xfrm>
          <a:prstGeom prst="upArrow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Pfeil: 180-Grad 27">
            <a:extLst>
              <a:ext uri="{FF2B5EF4-FFF2-40B4-BE49-F238E27FC236}">
                <a16:creationId xmlns:a16="http://schemas.microsoft.com/office/drawing/2014/main" id="{DC8099AC-F62E-8441-E971-9D53A939B198}"/>
              </a:ext>
            </a:extLst>
          </p:cNvPr>
          <p:cNvSpPr/>
          <p:nvPr/>
        </p:nvSpPr>
        <p:spPr>
          <a:xfrm rot="16200000">
            <a:off x="533122" y="957206"/>
            <a:ext cx="4910008" cy="5649701"/>
          </a:xfrm>
          <a:prstGeom prst="uturnArrow">
            <a:avLst>
              <a:gd name="adj1" fmla="val 5496"/>
              <a:gd name="adj2" fmla="val 5282"/>
              <a:gd name="adj3" fmla="val 8096"/>
              <a:gd name="adj4" fmla="val 27475"/>
              <a:gd name="adj5" fmla="val 21011"/>
            </a:avLst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5408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F24BB-7677-A965-4EFA-230D3479D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E1B4207-20C1-37B7-50FE-7D5AD1106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CB5E6-195C-48B5-9EB8-D3F67FAE54A8}" type="datetime1">
              <a:rPr lang="de-DE" smtClean="0"/>
              <a:t>12.03.2026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C9A4B61F-FD5F-F9E3-8C99-BD4C6339F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Jörg Schaarschmidt &amp; Wolfgang Wenzel 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52AB1FAF-08E3-9D83-83C4-0BAEE0B4B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7A70C-9621-4099-9D5A-A652D208DE62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52A74066-DF61-2DEC-9F78-A3A7AE2E4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Architecture </a:t>
            </a:r>
          </a:p>
        </p:txBody>
      </p:sp>
      <p:pic>
        <p:nvPicPr>
          <p:cNvPr id="11" name="Grafik 10" descr="UI UX mit einfarbiger Füllung">
            <a:extLst>
              <a:ext uri="{FF2B5EF4-FFF2-40B4-BE49-F238E27FC236}">
                <a16:creationId xmlns:a16="http://schemas.microsoft.com/office/drawing/2014/main" id="{1752547B-42CC-1181-784D-33C6AF6CA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02229" y="757942"/>
            <a:ext cx="2079171" cy="2079171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640881D4-21B6-8C4B-2E27-9854E60BCC14}"/>
              </a:ext>
            </a:extLst>
          </p:cNvPr>
          <p:cNvSpPr txBox="1"/>
          <p:nvPr/>
        </p:nvSpPr>
        <p:spPr>
          <a:xfrm>
            <a:off x="1279076" y="2909201"/>
            <a:ext cx="2743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 err="1"/>
              <a:t>Graphical</a:t>
            </a:r>
            <a:r>
              <a:rPr lang="de-DE" sz="2000" b="1" dirty="0"/>
              <a:t> User </a:t>
            </a:r>
            <a:r>
              <a:rPr lang="de-DE" sz="2000" b="1" dirty="0" err="1"/>
              <a:t>Ínterface</a:t>
            </a:r>
            <a:endParaRPr lang="de-DE" sz="2000" b="1" dirty="0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0B1C9E9D-B6D9-AAA1-F3C5-19647E803BA1}"/>
              </a:ext>
            </a:extLst>
          </p:cNvPr>
          <p:cNvSpPr/>
          <p:nvPr/>
        </p:nvSpPr>
        <p:spPr>
          <a:xfrm>
            <a:off x="6678386" y="2168979"/>
            <a:ext cx="3929742" cy="990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/>
              <a:t>Python Code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125AD2B0-9D44-0A90-7F5E-2D0B42475508}"/>
              </a:ext>
            </a:extLst>
          </p:cNvPr>
          <p:cNvSpPr/>
          <p:nvPr/>
        </p:nvSpPr>
        <p:spPr>
          <a:xfrm>
            <a:off x="6678386" y="336452"/>
            <a:ext cx="3929742" cy="9906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400" dirty="0"/>
              <a:t>UI Elements</a:t>
            </a:r>
          </a:p>
        </p:txBody>
      </p:sp>
      <p:sp>
        <p:nvSpPr>
          <p:cNvPr id="15" name="Pfeil: nach oben 14">
            <a:extLst>
              <a:ext uri="{FF2B5EF4-FFF2-40B4-BE49-F238E27FC236}">
                <a16:creationId xmlns:a16="http://schemas.microsoft.com/office/drawing/2014/main" id="{61F70ED2-B7E8-8F47-B7FC-CDDEDF6A297A}"/>
              </a:ext>
            </a:extLst>
          </p:cNvPr>
          <p:cNvSpPr/>
          <p:nvPr/>
        </p:nvSpPr>
        <p:spPr>
          <a:xfrm>
            <a:off x="8326454" y="1446341"/>
            <a:ext cx="457200" cy="566057"/>
          </a:xfrm>
          <a:prstGeom prst="upArrow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Pfeil: nach oben 15">
            <a:extLst>
              <a:ext uri="{FF2B5EF4-FFF2-40B4-BE49-F238E27FC236}">
                <a16:creationId xmlns:a16="http://schemas.microsoft.com/office/drawing/2014/main" id="{F6F415E8-4CD0-CE7D-CD4B-AFC25B020CF9}"/>
              </a:ext>
            </a:extLst>
          </p:cNvPr>
          <p:cNvSpPr/>
          <p:nvPr/>
        </p:nvSpPr>
        <p:spPr>
          <a:xfrm rot="15379118">
            <a:off x="4753219" y="83170"/>
            <a:ext cx="457200" cy="2532998"/>
          </a:xfrm>
          <a:prstGeom prst="upArrow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CA6DCC54-A16E-9A1D-E718-10E0393D550F}"/>
              </a:ext>
            </a:extLst>
          </p:cNvPr>
          <p:cNvSpPr/>
          <p:nvPr/>
        </p:nvSpPr>
        <p:spPr>
          <a:xfrm>
            <a:off x="1113914" y="3453487"/>
            <a:ext cx="3234576" cy="99060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/>
              <a:t>Workflow Generation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DA9F1869-3DBE-8019-6D2C-7E51AEEFA038}"/>
              </a:ext>
            </a:extLst>
          </p:cNvPr>
          <p:cNvSpPr/>
          <p:nvPr/>
        </p:nvSpPr>
        <p:spPr>
          <a:xfrm>
            <a:off x="6645729" y="3975929"/>
            <a:ext cx="3929742" cy="990600"/>
          </a:xfrm>
          <a:prstGeom prst="roundRect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Workflow </a:t>
            </a:r>
            <a:r>
              <a:rPr lang="de-DE" sz="2400" dirty="0" err="1">
                <a:solidFill>
                  <a:schemeClr val="tx1"/>
                </a:solidFill>
              </a:rPr>
              <a:t>Execution</a:t>
            </a:r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19" name="Pfeil: nach oben 18">
            <a:extLst>
              <a:ext uri="{FF2B5EF4-FFF2-40B4-BE49-F238E27FC236}">
                <a16:creationId xmlns:a16="http://schemas.microsoft.com/office/drawing/2014/main" id="{E3B46FC0-04D3-44CF-98BA-F5F7113A4AAE}"/>
              </a:ext>
            </a:extLst>
          </p:cNvPr>
          <p:cNvSpPr/>
          <p:nvPr/>
        </p:nvSpPr>
        <p:spPr>
          <a:xfrm rot="10800000">
            <a:off x="8382000" y="3315449"/>
            <a:ext cx="457200" cy="566057"/>
          </a:xfrm>
          <a:prstGeom prst="upArrow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Pfeil: nach oben 20">
            <a:extLst>
              <a:ext uri="{FF2B5EF4-FFF2-40B4-BE49-F238E27FC236}">
                <a16:creationId xmlns:a16="http://schemas.microsoft.com/office/drawing/2014/main" id="{16A6BA25-F85C-4901-6BFF-C47EA4051F26}"/>
              </a:ext>
            </a:extLst>
          </p:cNvPr>
          <p:cNvSpPr/>
          <p:nvPr/>
        </p:nvSpPr>
        <p:spPr>
          <a:xfrm rot="6364931">
            <a:off x="5301876" y="3316266"/>
            <a:ext cx="488792" cy="1938139"/>
          </a:xfrm>
          <a:prstGeom prst="upArrow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: eine Ecke abgeschnitten 22">
            <a:extLst>
              <a:ext uri="{FF2B5EF4-FFF2-40B4-BE49-F238E27FC236}">
                <a16:creationId xmlns:a16="http://schemas.microsoft.com/office/drawing/2014/main" id="{0CEDC9BA-8F02-0DD6-C938-E5AF9A14704A}"/>
              </a:ext>
            </a:extLst>
          </p:cNvPr>
          <p:cNvSpPr/>
          <p:nvPr/>
        </p:nvSpPr>
        <p:spPr>
          <a:xfrm>
            <a:off x="6134776" y="5808456"/>
            <a:ext cx="1582148" cy="634152"/>
          </a:xfrm>
          <a:prstGeom prst="snip1Rect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Artifacts</a:t>
            </a:r>
            <a:endParaRPr lang="de-DE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Rechteck: eine Ecke abgeschnitten 23">
            <a:extLst>
              <a:ext uri="{FF2B5EF4-FFF2-40B4-BE49-F238E27FC236}">
                <a16:creationId xmlns:a16="http://schemas.microsoft.com/office/drawing/2014/main" id="{1ED10B15-2B86-76ED-8AA5-E586D49C2A91}"/>
              </a:ext>
            </a:extLst>
          </p:cNvPr>
          <p:cNvSpPr/>
          <p:nvPr/>
        </p:nvSpPr>
        <p:spPr>
          <a:xfrm>
            <a:off x="9191126" y="5765328"/>
            <a:ext cx="1582148" cy="634152"/>
          </a:xfrm>
          <a:prstGeom prst="snip1Rect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</a:t>
            </a:r>
          </a:p>
        </p:txBody>
      </p:sp>
      <p:sp>
        <p:nvSpPr>
          <p:cNvPr id="25" name="Pfeil: nach oben 24">
            <a:extLst>
              <a:ext uri="{FF2B5EF4-FFF2-40B4-BE49-F238E27FC236}">
                <a16:creationId xmlns:a16="http://schemas.microsoft.com/office/drawing/2014/main" id="{07C7160E-4936-0FE1-6578-AF8FF6609486}"/>
              </a:ext>
            </a:extLst>
          </p:cNvPr>
          <p:cNvSpPr/>
          <p:nvPr/>
        </p:nvSpPr>
        <p:spPr>
          <a:xfrm rot="12470936">
            <a:off x="6975465" y="5045745"/>
            <a:ext cx="488792" cy="688408"/>
          </a:xfrm>
          <a:prstGeom prst="upArrow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Pfeil: nach oben 25">
            <a:extLst>
              <a:ext uri="{FF2B5EF4-FFF2-40B4-BE49-F238E27FC236}">
                <a16:creationId xmlns:a16="http://schemas.microsoft.com/office/drawing/2014/main" id="{CC72153B-B8E7-F8CB-06F4-744041DC3B06}"/>
              </a:ext>
            </a:extLst>
          </p:cNvPr>
          <p:cNvSpPr/>
          <p:nvPr/>
        </p:nvSpPr>
        <p:spPr>
          <a:xfrm rot="8179574">
            <a:off x="9516315" y="5046527"/>
            <a:ext cx="488792" cy="688408"/>
          </a:xfrm>
          <a:prstGeom prst="upArrow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Pfeil: 180-Grad 27">
            <a:extLst>
              <a:ext uri="{FF2B5EF4-FFF2-40B4-BE49-F238E27FC236}">
                <a16:creationId xmlns:a16="http://schemas.microsoft.com/office/drawing/2014/main" id="{0F6EF91C-6F94-018A-8F9A-C626DE3FBB11}"/>
              </a:ext>
            </a:extLst>
          </p:cNvPr>
          <p:cNvSpPr/>
          <p:nvPr/>
        </p:nvSpPr>
        <p:spPr>
          <a:xfrm rot="16200000">
            <a:off x="533122" y="957206"/>
            <a:ext cx="4910008" cy="5649701"/>
          </a:xfrm>
          <a:prstGeom prst="uturnArrow">
            <a:avLst>
              <a:gd name="adj1" fmla="val 5496"/>
              <a:gd name="adj2" fmla="val 5282"/>
              <a:gd name="adj3" fmla="val 8096"/>
              <a:gd name="adj4" fmla="val 27475"/>
              <a:gd name="adj5" fmla="val 21011"/>
            </a:avLst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6B6938F4-152A-7BAD-E2E9-EF5DD4CFFFF2}"/>
              </a:ext>
            </a:extLst>
          </p:cNvPr>
          <p:cNvSpPr/>
          <p:nvPr/>
        </p:nvSpPr>
        <p:spPr>
          <a:xfrm>
            <a:off x="450644" y="455740"/>
            <a:ext cx="5583521" cy="598686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Workflows </a:t>
            </a: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are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executed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by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runners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 on remote </a:t>
            </a: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or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local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resources</a:t>
            </a:r>
            <a:endParaRPr lang="de-DE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You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need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 a „</a:t>
            </a: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runner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“ on </a:t>
            </a: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the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 remote </a:t>
            </a: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resource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 (</a:t>
            </a: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JypterLab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) </a:t>
            </a: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to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execute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the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 WF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Each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runner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has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 a </a:t>
            </a: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resource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name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 (</a:t>
            </a: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use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 „</a:t>
            </a: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local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“)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The </a:t>
            </a: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runner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reads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one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job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 at a time </a:t>
            </a: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from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the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 DB, </a:t>
            </a: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executes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the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 code and possible </a:t>
            </a: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generates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 100.000 </a:t>
            </a: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new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entries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 in </a:t>
            </a:r>
            <a:r>
              <a:rPr lang="de-DE" sz="2400" dirty="0" err="1">
                <a:solidFill>
                  <a:schemeClr val="accent1">
                    <a:lumMod val="75000"/>
                  </a:schemeClr>
                </a:solidFill>
              </a:rPr>
              <a:t>the</a:t>
            </a:r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 DB</a:t>
            </a:r>
          </a:p>
        </p:txBody>
      </p:sp>
    </p:spTree>
    <p:extLst>
      <p:ext uri="{BB962C8B-B14F-4D97-AF65-F5344CB8AC3E}">
        <p14:creationId xmlns:p14="http://schemas.microsoft.com/office/powerpoint/2010/main" val="3516062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27FAD-1886-6E07-BCD6-F08C712CA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F25ED59-A14B-1736-8DC5-1AE0FFCBF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B0067-0430-4573-9EA4-59CEFAD7DF5A}" type="datetime1">
              <a:rPr lang="de-DE" smtClean="0"/>
              <a:t>12.03.2026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9DB5B6E-720C-4A7C-9AD0-5BD169021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Jörg Schaarschmidt &amp; Wolfgang Wenzel 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8BAC655-9409-0D4A-0AC8-1330E1604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7A70C-9621-4099-9D5A-A652D208DE62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CE627FA0-9AD7-70AB-3085-247A533C0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Architecture </a:t>
            </a:r>
          </a:p>
        </p:txBody>
      </p:sp>
      <p:pic>
        <p:nvPicPr>
          <p:cNvPr id="11" name="Grafik 10" descr="UI UX mit einfarbiger Füllung">
            <a:extLst>
              <a:ext uri="{FF2B5EF4-FFF2-40B4-BE49-F238E27FC236}">
                <a16:creationId xmlns:a16="http://schemas.microsoft.com/office/drawing/2014/main" id="{6C3743BC-0E42-AF52-E4C6-57F5FD3D3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02229" y="757942"/>
            <a:ext cx="2079171" cy="2079171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AD834CAD-0418-5E3D-E375-12341B9AB6FE}"/>
              </a:ext>
            </a:extLst>
          </p:cNvPr>
          <p:cNvSpPr txBox="1"/>
          <p:nvPr/>
        </p:nvSpPr>
        <p:spPr>
          <a:xfrm>
            <a:off x="1279076" y="2909201"/>
            <a:ext cx="2743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 err="1"/>
              <a:t>Graphical</a:t>
            </a:r>
            <a:r>
              <a:rPr lang="de-DE" sz="2000" b="1" dirty="0"/>
              <a:t> User </a:t>
            </a:r>
            <a:r>
              <a:rPr lang="de-DE" sz="2000" b="1" dirty="0" err="1"/>
              <a:t>Ínterface</a:t>
            </a:r>
            <a:endParaRPr lang="de-DE" sz="2000" b="1" dirty="0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4047D2EE-CE38-E0B5-C6E2-91BDAA7525F0}"/>
              </a:ext>
            </a:extLst>
          </p:cNvPr>
          <p:cNvSpPr/>
          <p:nvPr/>
        </p:nvSpPr>
        <p:spPr>
          <a:xfrm>
            <a:off x="6678386" y="2168979"/>
            <a:ext cx="3929742" cy="990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/>
              <a:t>Python Code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C17A8B39-6A9E-CCD9-4B65-958B85BCEC3E}"/>
              </a:ext>
            </a:extLst>
          </p:cNvPr>
          <p:cNvSpPr/>
          <p:nvPr/>
        </p:nvSpPr>
        <p:spPr>
          <a:xfrm>
            <a:off x="6678386" y="336452"/>
            <a:ext cx="3929742" cy="9906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400" dirty="0"/>
              <a:t>UI Elements</a:t>
            </a:r>
          </a:p>
        </p:txBody>
      </p:sp>
      <p:sp>
        <p:nvSpPr>
          <p:cNvPr id="15" name="Pfeil: nach oben 14">
            <a:extLst>
              <a:ext uri="{FF2B5EF4-FFF2-40B4-BE49-F238E27FC236}">
                <a16:creationId xmlns:a16="http://schemas.microsoft.com/office/drawing/2014/main" id="{833DF71E-57D8-3C41-54AB-8DF0F251E51A}"/>
              </a:ext>
            </a:extLst>
          </p:cNvPr>
          <p:cNvSpPr/>
          <p:nvPr/>
        </p:nvSpPr>
        <p:spPr>
          <a:xfrm>
            <a:off x="8326454" y="1446341"/>
            <a:ext cx="457200" cy="566057"/>
          </a:xfrm>
          <a:prstGeom prst="upArrow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Pfeil: nach oben 15">
            <a:extLst>
              <a:ext uri="{FF2B5EF4-FFF2-40B4-BE49-F238E27FC236}">
                <a16:creationId xmlns:a16="http://schemas.microsoft.com/office/drawing/2014/main" id="{5AFD5AF2-5A60-F4A6-BCF6-7EF63C4376DD}"/>
              </a:ext>
            </a:extLst>
          </p:cNvPr>
          <p:cNvSpPr/>
          <p:nvPr/>
        </p:nvSpPr>
        <p:spPr>
          <a:xfrm rot="15379118">
            <a:off x="4753219" y="83170"/>
            <a:ext cx="457200" cy="2532998"/>
          </a:xfrm>
          <a:prstGeom prst="upArrow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6278E407-5C45-CE64-C113-266A904E8FFC}"/>
              </a:ext>
            </a:extLst>
          </p:cNvPr>
          <p:cNvSpPr/>
          <p:nvPr/>
        </p:nvSpPr>
        <p:spPr>
          <a:xfrm>
            <a:off x="1113914" y="3453487"/>
            <a:ext cx="3234576" cy="99060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/>
              <a:t>Workflow Generation</a:t>
            </a:r>
          </a:p>
        </p:txBody>
      </p:sp>
      <p:sp>
        <p:nvSpPr>
          <p:cNvPr id="19" name="Pfeil: nach oben 18">
            <a:extLst>
              <a:ext uri="{FF2B5EF4-FFF2-40B4-BE49-F238E27FC236}">
                <a16:creationId xmlns:a16="http://schemas.microsoft.com/office/drawing/2014/main" id="{D64B6A3A-739B-4245-5A98-1D316F113956}"/>
              </a:ext>
            </a:extLst>
          </p:cNvPr>
          <p:cNvSpPr/>
          <p:nvPr/>
        </p:nvSpPr>
        <p:spPr>
          <a:xfrm rot="10800000">
            <a:off x="8382000" y="3315449"/>
            <a:ext cx="457200" cy="566057"/>
          </a:xfrm>
          <a:prstGeom prst="upArrow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Pfeil: nach oben 20">
            <a:extLst>
              <a:ext uri="{FF2B5EF4-FFF2-40B4-BE49-F238E27FC236}">
                <a16:creationId xmlns:a16="http://schemas.microsoft.com/office/drawing/2014/main" id="{1CF00A46-D754-1DC7-E0B5-0C46540AA4BA}"/>
              </a:ext>
            </a:extLst>
          </p:cNvPr>
          <p:cNvSpPr/>
          <p:nvPr/>
        </p:nvSpPr>
        <p:spPr>
          <a:xfrm rot="6364931">
            <a:off x="5301876" y="3316266"/>
            <a:ext cx="488792" cy="1938139"/>
          </a:xfrm>
          <a:prstGeom prst="upArrow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: eine Ecke abgeschnitten 22">
            <a:extLst>
              <a:ext uri="{FF2B5EF4-FFF2-40B4-BE49-F238E27FC236}">
                <a16:creationId xmlns:a16="http://schemas.microsoft.com/office/drawing/2014/main" id="{F9FB318B-1147-20A5-FB24-88C84B7B7CA5}"/>
              </a:ext>
            </a:extLst>
          </p:cNvPr>
          <p:cNvSpPr/>
          <p:nvPr/>
        </p:nvSpPr>
        <p:spPr>
          <a:xfrm>
            <a:off x="6134776" y="5808456"/>
            <a:ext cx="1582148" cy="634152"/>
          </a:xfrm>
          <a:prstGeom prst="snip1Rect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Artifacts</a:t>
            </a:r>
            <a:endParaRPr lang="de-DE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Rechteck: eine Ecke abgeschnitten 23">
            <a:extLst>
              <a:ext uri="{FF2B5EF4-FFF2-40B4-BE49-F238E27FC236}">
                <a16:creationId xmlns:a16="http://schemas.microsoft.com/office/drawing/2014/main" id="{44DB64A4-8A28-4281-5AB5-4579787DA3DD}"/>
              </a:ext>
            </a:extLst>
          </p:cNvPr>
          <p:cNvSpPr/>
          <p:nvPr/>
        </p:nvSpPr>
        <p:spPr>
          <a:xfrm>
            <a:off x="9191126" y="5765328"/>
            <a:ext cx="1582148" cy="634152"/>
          </a:xfrm>
          <a:prstGeom prst="snip1Rect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</a:t>
            </a:r>
          </a:p>
        </p:txBody>
      </p:sp>
      <p:sp>
        <p:nvSpPr>
          <p:cNvPr id="25" name="Pfeil: nach oben 24">
            <a:extLst>
              <a:ext uri="{FF2B5EF4-FFF2-40B4-BE49-F238E27FC236}">
                <a16:creationId xmlns:a16="http://schemas.microsoft.com/office/drawing/2014/main" id="{63C3D89C-758F-313B-DCE9-D0C3004A2304}"/>
              </a:ext>
            </a:extLst>
          </p:cNvPr>
          <p:cNvSpPr/>
          <p:nvPr/>
        </p:nvSpPr>
        <p:spPr>
          <a:xfrm rot="12470936">
            <a:off x="6975465" y="5045745"/>
            <a:ext cx="488792" cy="688408"/>
          </a:xfrm>
          <a:prstGeom prst="upArrow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Pfeil: nach oben 25">
            <a:extLst>
              <a:ext uri="{FF2B5EF4-FFF2-40B4-BE49-F238E27FC236}">
                <a16:creationId xmlns:a16="http://schemas.microsoft.com/office/drawing/2014/main" id="{29397F77-E293-3973-1EB1-F4CCD65CFC40}"/>
              </a:ext>
            </a:extLst>
          </p:cNvPr>
          <p:cNvSpPr/>
          <p:nvPr/>
        </p:nvSpPr>
        <p:spPr>
          <a:xfrm rot="8179574">
            <a:off x="9516315" y="5046527"/>
            <a:ext cx="488792" cy="688408"/>
          </a:xfrm>
          <a:prstGeom prst="upArrow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Pfeil: 180-Grad 27">
            <a:extLst>
              <a:ext uri="{FF2B5EF4-FFF2-40B4-BE49-F238E27FC236}">
                <a16:creationId xmlns:a16="http://schemas.microsoft.com/office/drawing/2014/main" id="{3994EE5E-7C8D-3E2B-5C4B-AC851A68CE53}"/>
              </a:ext>
            </a:extLst>
          </p:cNvPr>
          <p:cNvSpPr/>
          <p:nvPr/>
        </p:nvSpPr>
        <p:spPr>
          <a:xfrm rot="16200000">
            <a:off x="533122" y="957206"/>
            <a:ext cx="4910008" cy="5649701"/>
          </a:xfrm>
          <a:prstGeom prst="uturnArrow">
            <a:avLst>
              <a:gd name="adj1" fmla="val 5496"/>
              <a:gd name="adj2" fmla="val 5282"/>
              <a:gd name="adj3" fmla="val 8096"/>
              <a:gd name="adj4" fmla="val 27475"/>
              <a:gd name="adj5" fmla="val 21011"/>
            </a:avLst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pic>
        <p:nvPicPr>
          <p:cNvPr id="3" name="Grafik 2" descr="Ein Bild, das Text, Screenshot, Display, Zahl enthält.&#10;&#10;KI-generierte Inhalte können fehlerhaft sein.">
            <a:extLst>
              <a:ext uri="{FF2B5EF4-FFF2-40B4-BE49-F238E27FC236}">
                <a16:creationId xmlns:a16="http://schemas.microsoft.com/office/drawing/2014/main" id="{41C63EE9-446F-DB44-F9E0-60221009B2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193" y="2247172"/>
            <a:ext cx="8080935" cy="4395890"/>
          </a:xfrm>
          <a:prstGeom prst="rect">
            <a:avLst/>
          </a:prstGeom>
        </p:spPr>
      </p:pic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3A2800A6-6A5B-F401-1724-42E79807948E}"/>
              </a:ext>
            </a:extLst>
          </p:cNvPr>
          <p:cNvSpPr/>
          <p:nvPr/>
        </p:nvSpPr>
        <p:spPr>
          <a:xfrm>
            <a:off x="6645729" y="3975929"/>
            <a:ext cx="3929742" cy="990600"/>
          </a:xfrm>
          <a:prstGeom prst="roundRect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Workflow </a:t>
            </a:r>
            <a:r>
              <a:rPr lang="de-DE" sz="2400" dirty="0" err="1">
                <a:solidFill>
                  <a:schemeClr val="tx1"/>
                </a:solidFill>
              </a:rPr>
              <a:t>Execution</a:t>
            </a:r>
            <a:endParaRPr lang="de-DE" sz="2400" dirty="0">
              <a:solidFill>
                <a:schemeClr val="tx1"/>
              </a:solidFill>
            </a:endParaRPr>
          </a:p>
        </p:txBody>
      </p:sp>
      <p:pic>
        <p:nvPicPr>
          <p:cNvPr id="5" name="Grafik 4" descr="Ein Bild, das Text, Screenshot, Software, Multimedia-Software enthält.&#10;&#10;KI-generierte Inhalte können fehlerhaft sein.">
            <a:extLst>
              <a:ext uri="{FF2B5EF4-FFF2-40B4-BE49-F238E27FC236}">
                <a16:creationId xmlns:a16="http://schemas.microsoft.com/office/drawing/2014/main" id="{32B0DAE3-E84B-4E88-B01C-5104652F5B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4900" y="165647"/>
            <a:ext cx="12192000" cy="540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884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40FEBFF3-DC79-6E52-490D-B45BC7AF52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BC8285D-2E85-D82A-03A2-B70BBDF2A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9906A44-8F86-5D8F-556F-92010D74E6E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F00F5631-1EC1-CD05-4962-8A11BCC96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F198-1C08-4285-A225-BA6DD3ADE0DE}" type="datetime1">
              <a:rPr lang="de-DE" smtClean="0"/>
              <a:t>12.03.2026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A80CF2F-2523-F5A4-DFCB-8AD9577D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5389880" cy="253436"/>
          </a:xfrm>
        </p:spPr>
        <p:txBody>
          <a:bodyPr/>
          <a:lstStyle/>
          <a:p>
            <a:r>
              <a:rPr lang="de-DE" dirty="0"/>
              <a:t>Jörg Schaarschmidt &amp; Wolfgang Wenzel 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B8C3EA99-8A93-A94E-EEBD-D2695351E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7A70C-9621-4099-9D5A-A652D208DE62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25138AA9-D044-C9B4-4C49-B1E55D044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inspect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results</a:t>
            </a:r>
            <a:r>
              <a:rPr lang="de-DE" dirty="0"/>
              <a:t> in </a:t>
            </a:r>
            <a:r>
              <a:rPr lang="de-DE" dirty="0" err="1"/>
              <a:t>graphical</a:t>
            </a:r>
            <a:r>
              <a:rPr lang="de-DE" dirty="0"/>
              <a:t> and </a:t>
            </a:r>
            <a:r>
              <a:rPr lang="de-DE" dirty="0" err="1"/>
              <a:t>tabular</a:t>
            </a:r>
            <a:r>
              <a:rPr lang="de-DE" dirty="0"/>
              <a:t> form </a:t>
            </a:r>
          </a:p>
        </p:txBody>
      </p:sp>
      <p:pic>
        <p:nvPicPr>
          <p:cNvPr id="11" name="Inhaltsplatzhalter 10" descr="Ein Bild, das Text, Screenshot, Software, Multimedia-Software enthält.&#10;&#10;KI-generierte Inhalte können fehlerhaft sein.">
            <a:extLst>
              <a:ext uri="{FF2B5EF4-FFF2-40B4-BE49-F238E27FC236}">
                <a16:creationId xmlns:a16="http://schemas.microsoft.com/office/drawing/2014/main" id="{1B86BF2B-8F4B-BB5B-ACE3-D0E27428694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38150" y="975054"/>
            <a:ext cx="10915650" cy="4951158"/>
          </a:xfrm>
          <a:prstGeom prst="rect">
            <a:avLst/>
          </a:prstGeom>
          <a:noFill/>
        </p:spPr>
      </p:pic>
      <p:pic>
        <p:nvPicPr>
          <p:cNvPr id="12" name="Grafik 11" descr="Ein Bild, das Diagramm, Reihe, Screenshot, Text enthält.&#10;&#10;KI-generierte Inhalte können fehlerhaft sein.">
            <a:extLst>
              <a:ext uri="{FF2B5EF4-FFF2-40B4-BE49-F238E27FC236}">
                <a16:creationId xmlns:a16="http://schemas.microsoft.com/office/drawing/2014/main" id="{401261AF-2384-1A05-EA62-1EFC3776E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514" y="2101286"/>
            <a:ext cx="6885947" cy="4086070"/>
          </a:xfrm>
          <a:prstGeom prst="rect">
            <a:avLst/>
          </a:prstGeom>
        </p:spPr>
      </p:pic>
      <p:sp>
        <p:nvSpPr>
          <p:cNvPr id="4" name="Parallelogramm 3">
            <a:extLst>
              <a:ext uri="{FF2B5EF4-FFF2-40B4-BE49-F238E27FC236}">
                <a16:creationId xmlns:a16="http://schemas.microsoft.com/office/drawing/2014/main" id="{91F59094-7030-517C-ADCE-C804DDA37DF4}"/>
              </a:ext>
            </a:extLst>
          </p:cNvPr>
          <p:cNvSpPr/>
          <p:nvPr/>
        </p:nvSpPr>
        <p:spPr>
          <a:xfrm>
            <a:off x="3728720" y="5405120"/>
            <a:ext cx="4114800" cy="922574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extra </a:t>
            </a:r>
            <a:r>
              <a:rPr lang="de-DE" dirty="0" err="1"/>
              <a:t>analysis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make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after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run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5660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C4D7870C-6658-4E7D-B2B9-7B7201F64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Python Side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3ACCBC0-547C-CABD-F80A-FCDA3678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7A70C-9621-4099-9D5A-A652D208DE62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A4F39AE4-7FC9-1184-7CDF-8F5D30EC15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0" y="1578594"/>
            <a:ext cx="8468360" cy="4093243"/>
          </a:xfrm>
        </p:spPr>
        <p:txBody>
          <a:bodyPr/>
          <a:lstStyle/>
          <a:p>
            <a:r>
              <a:rPr lang="de-DE" dirty="0"/>
              <a:t>How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python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interact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DB:</a:t>
            </a:r>
          </a:p>
          <a:p>
            <a:pPr lvl="1"/>
            <a:r>
              <a:rPr lang="de-DE" dirty="0"/>
              <a:t>All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 </a:t>
            </a:r>
            <a:r>
              <a:rPr lang="de-DE" dirty="0" err="1"/>
              <a:t>arguments</a:t>
            </a:r>
            <a:r>
              <a:rPr lang="de-DE" dirty="0"/>
              <a:t> and </a:t>
            </a:r>
            <a:r>
              <a:rPr lang="de-DE" dirty="0" err="1"/>
              <a:t>retrurn</a:t>
            </a:r>
            <a:r>
              <a:rPr lang="de-DE" dirty="0"/>
              <a:t> </a:t>
            </a:r>
            <a:r>
              <a:rPr lang="de-DE" dirty="0" err="1"/>
              <a:t>types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Odmantic</a:t>
            </a:r>
            <a:r>
              <a:rPr lang="de-DE" dirty="0"/>
              <a:t> Models </a:t>
            </a:r>
          </a:p>
          <a:p>
            <a:pPr lvl="1"/>
            <a:r>
              <a:rPr lang="de-DE" dirty="0" err="1"/>
              <a:t>Odmantic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python</a:t>
            </a:r>
            <a:r>
              <a:rPr lang="de-DE" dirty="0"/>
              <a:t> </a:t>
            </a:r>
            <a:r>
              <a:rPr lang="de-DE" dirty="0" err="1"/>
              <a:t>Mongoi</a:t>
            </a:r>
            <a:r>
              <a:rPr lang="de-DE" dirty="0"/>
              <a:t> DB </a:t>
            </a:r>
            <a:r>
              <a:rPr lang="de-DE" dirty="0" err="1"/>
              <a:t>wrapper</a:t>
            </a:r>
            <a:r>
              <a:rPr lang="de-DE" dirty="0"/>
              <a:t> </a:t>
            </a:r>
          </a:p>
          <a:p>
            <a:pPr lvl="1"/>
            <a:r>
              <a:rPr lang="de-DE" dirty="0" err="1"/>
              <a:t>Odmantic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built</a:t>
            </a:r>
            <a:r>
              <a:rPr lang="de-DE" dirty="0"/>
              <a:t> on top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pydantic</a:t>
            </a:r>
            <a:endParaRPr lang="de-DE" dirty="0"/>
          </a:p>
          <a:p>
            <a:pPr lvl="1"/>
            <a:r>
              <a:rPr lang="de-DE" dirty="0" err="1"/>
              <a:t>Your</a:t>
            </a:r>
            <a:r>
              <a:rPr lang="de-DE" dirty="0"/>
              <a:t> code </a:t>
            </a:r>
            <a:r>
              <a:rPr lang="de-DE" dirty="0" err="1"/>
              <a:t>does</a:t>
            </a:r>
            <a:r>
              <a:rPr lang="de-DE" dirty="0"/>
              <a:t> (</a:t>
            </a:r>
            <a:r>
              <a:rPr lang="de-DE" dirty="0" err="1"/>
              <a:t>typically</a:t>
            </a:r>
            <a:r>
              <a:rPr lang="de-DE" dirty="0"/>
              <a:t>) not </a:t>
            </a:r>
            <a:r>
              <a:rPr lang="de-DE" dirty="0" err="1"/>
              <a:t>interact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DB</a:t>
            </a:r>
          </a:p>
          <a:p>
            <a:r>
              <a:rPr lang="de-DE" dirty="0"/>
              <a:t>How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UI </a:t>
            </a:r>
            <a:r>
              <a:rPr lang="de-DE" dirty="0" err="1"/>
              <a:t>know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types</a:t>
            </a:r>
            <a:r>
              <a:rPr lang="de-DE" dirty="0"/>
              <a:t> and </a:t>
            </a:r>
            <a:r>
              <a:rPr lang="de-DE" dirty="0" err="1"/>
              <a:t>nodes</a:t>
            </a:r>
            <a:r>
              <a:rPr lang="de-DE" dirty="0"/>
              <a:t> ?</a:t>
            </a:r>
          </a:p>
          <a:p>
            <a:pPr lvl="1"/>
            <a:r>
              <a:rPr lang="de-DE" dirty="0"/>
              <a:t>Utility </a:t>
            </a:r>
            <a:r>
              <a:rPr lang="de-DE" dirty="0" err="1"/>
              <a:t>function</a:t>
            </a:r>
            <a:r>
              <a:rPr lang="de-DE" dirty="0"/>
              <a:t> </a:t>
            </a:r>
            <a:r>
              <a:rPr lang="de-DE" dirty="0" err="1"/>
              <a:t>create_model_table</a:t>
            </a:r>
            <a:endParaRPr lang="de-DE" dirty="0"/>
          </a:p>
          <a:p>
            <a:pPr lvl="1"/>
            <a:r>
              <a:rPr lang="de-DE" dirty="0"/>
              <a:t>Utility </a:t>
            </a:r>
            <a:r>
              <a:rPr lang="de-DE" dirty="0" err="1"/>
              <a:t>function</a:t>
            </a:r>
            <a:r>
              <a:rPr lang="de-DE" dirty="0"/>
              <a:t> </a:t>
            </a:r>
            <a:r>
              <a:rPr lang="de-DE" dirty="0" err="1"/>
              <a:t>create_node_table</a:t>
            </a:r>
            <a:endParaRPr lang="de-DE" dirty="0"/>
          </a:p>
          <a:p>
            <a:pPr lvl="1"/>
            <a:r>
              <a:rPr lang="de-DE" dirty="0"/>
              <a:t>The UI </a:t>
            </a:r>
            <a:r>
              <a:rPr lang="de-DE" dirty="0" err="1"/>
              <a:t>is</a:t>
            </a:r>
            <a:r>
              <a:rPr lang="de-DE" dirty="0"/>
              <a:t> auto-</a:t>
            </a:r>
            <a:r>
              <a:rPr lang="de-DE" dirty="0" err="1"/>
              <a:t>generated</a:t>
            </a:r>
            <a:endParaRPr lang="de-DE" dirty="0"/>
          </a:p>
          <a:p>
            <a:r>
              <a:rPr lang="de-DE" dirty="0"/>
              <a:t>How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runner</a:t>
            </a:r>
            <a:r>
              <a:rPr lang="de-DE" dirty="0"/>
              <a:t> </a:t>
            </a:r>
            <a:r>
              <a:rPr lang="de-DE" dirty="0" err="1"/>
              <a:t>know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code ?</a:t>
            </a:r>
          </a:p>
          <a:p>
            <a:pPr lvl="1"/>
            <a:r>
              <a:rPr lang="de-DE" dirty="0" err="1"/>
              <a:t>Periodic</a:t>
            </a:r>
            <a:r>
              <a:rPr lang="de-DE" dirty="0"/>
              <a:t> </a:t>
            </a:r>
            <a:r>
              <a:rPr lang="de-DE" dirty="0" err="1"/>
              <a:t>git</a:t>
            </a:r>
            <a:r>
              <a:rPr lang="de-DE" dirty="0"/>
              <a:t> pull (also auto-</a:t>
            </a:r>
            <a:r>
              <a:rPr lang="de-DE" dirty="0" err="1"/>
              <a:t>builds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tables</a:t>
            </a:r>
            <a:r>
              <a:rPr lang="de-DE" dirty="0"/>
              <a:t>)</a:t>
            </a:r>
          </a:p>
          <a:p>
            <a:pPr lvl="1"/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874F64C-C916-CF61-FF87-AE59B6C7911C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356350"/>
            <a:ext cx="2743200" cy="365125"/>
          </a:xfrm>
        </p:spPr>
        <p:txBody>
          <a:bodyPr/>
          <a:lstStyle/>
          <a:p>
            <a:fld id="{C349EA04-5B72-41CA-A09B-02511AF09AB8}" type="datetime1">
              <a:rPr lang="de-DE" smtClean="0"/>
              <a:t>12.03.2026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86D61404-F126-01DD-1EF4-DB58C128FB6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7957538" y="5243551"/>
            <a:ext cx="3599462" cy="194192"/>
          </a:xfrm>
        </p:spPr>
        <p:txBody>
          <a:bodyPr/>
          <a:lstStyle/>
          <a:p>
            <a:r>
              <a:rPr lang="de-DE" dirty="0"/>
              <a:t>Jörg Schaarschmidt &amp; Wolfgang Wenzel </a:t>
            </a:r>
          </a:p>
        </p:txBody>
      </p:sp>
      <p:pic>
        <p:nvPicPr>
          <p:cNvPr id="1026" name="Picture 2" descr="Modern Vectorized Python Code Logo | Stable Diffusion Online">
            <a:extLst>
              <a:ext uri="{FF2B5EF4-FFF2-40B4-BE49-F238E27FC236}">
                <a16:creationId xmlns:a16="http://schemas.microsoft.com/office/drawing/2014/main" id="{6EB539F3-1963-FDE3-EB37-617302E33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360" y="277864"/>
            <a:ext cx="2910840" cy="2910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2887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D2C88-82E1-52FD-4FB7-313FAB6DD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88F466AE-0614-D161-4AA3-549565CFD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FA142-9676-435A-A7FC-C664506F71CA}" type="datetime1">
              <a:rPr lang="de-DE" smtClean="0"/>
              <a:t>12.03.2026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ABE9C97A-B7F1-AD33-837E-46266D83F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Jörg Schaarschmidt &amp; Wolfgang Wenzel 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D0D151E-B752-8C70-1D9A-A64402CF0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7A70C-9621-4099-9D5A-A652D208DE62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30B08869-A6C0-B613-36C2-683502C67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Architecture </a:t>
            </a:r>
          </a:p>
        </p:txBody>
      </p:sp>
      <p:pic>
        <p:nvPicPr>
          <p:cNvPr id="11" name="Grafik 10" descr="UI UX mit einfarbiger Füllung">
            <a:extLst>
              <a:ext uri="{FF2B5EF4-FFF2-40B4-BE49-F238E27FC236}">
                <a16:creationId xmlns:a16="http://schemas.microsoft.com/office/drawing/2014/main" id="{DFE6F707-FBB3-F45A-511D-BC1F5A4EF1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02229" y="757942"/>
            <a:ext cx="2079171" cy="2079171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54CB12EB-19D2-E2FF-8001-F0DD3A64E18A}"/>
              </a:ext>
            </a:extLst>
          </p:cNvPr>
          <p:cNvSpPr txBox="1"/>
          <p:nvPr/>
        </p:nvSpPr>
        <p:spPr>
          <a:xfrm>
            <a:off x="1279076" y="2909201"/>
            <a:ext cx="2743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 err="1"/>
              <a:t>Graphical</a:t>
            </a:r>
            <a:r>
              <a:rPr lang="de-DE" sz="2000" b="1" dirty="0"/>
              <a:t> User </a:t>
            </a:r>
            <a:r>
              <a:rPr lang="de-DE" sz="2000" b="1" dirty="0" err="1"/>
              <a:t>Ínterface</a:t>
            </a:r>
            <a:endParaRPr lang="de-DE" sz="2000" b="1" dirty="0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36B3A79B-5136-6883-12B4-D205B8915710}"/>
              </a:ext>
            </a:extLst>
          </p:cNvPr>
          <p:cNvSpPr/>
          <p:nvPr/>
        </p:nvSpPr>
        <p:spPr>
          <a:xfrm>
            <a:off x="6678386" y="2168979"/>
            <a:ext cx="3929742" cy="990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/>
              <a:t>Python Code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92D10BD4-676B-3517-86E0-96CBDD8AE04A}"/>
              </a:ext>
            </a:extLst>
          </p:cNvPr>
          <p:cNvSpPr/>
          <p:nvPr/>
        </p:nvSpPr>
        <p:spPr>
          <a:xfrm>
            <a:off x="6678386" y="336452"/>
            <a:ext cx="3929742" cy="9906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400" dirty="0"/>
              <a:t>UI Elements</a:t>
            </a:r>
          </a:p>
        </p:txBody>
      </p:sp>
      <p:sp>
        <p:nvSpPr>
          <p:cNvPr id="15" name="Pfeil: nach oben 14">
            <a:extLst>
              <a:ext uri="{FF2B5EF4-FFF2-40B4-BE49-F238E27FC236}">
                <a16:creationId xmlns:a16="http://schemas.microsoft.com/office/drawing/2014/main" id="{AC8F865D-777F-61A8-E1CE-7DB0A283E729}"/>
              </a:ext>
            </a:extLst>
          </p:cNvPr>
          <p:cNvSpPr/>
          <p:nvPr/>
        </p:nvSpPr>
        <p:spPr>
          <a:xfrm>
            <a:off x="8326454" y="1446341"/>
            <a:ext cx="457200" cy="566057"/>
          </a:xfrm>
          <a:prstGeom prst="upArrow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Pfeil: nach oben 15">
            <a:extLst>
              <a:ext uri="{FF2B5EF4-FFF2-40B4-BE49-F238E27FC236}">
                <a16:creationId xmlns:a16="http://schemas.microsoft.com/office/drawing/2014/main" id="{63B77E0E-38EE-28C0-7AAB-8DFC2448E36B}"/>
              </a:ext>
            </a:extLst>
          </p:cNvPr>
          <p:cNvSpPr/>
          <p:nvPr/>
        </p:nvSpPr>
        <p:spPr>
          <a:xfrm rot="15379118">
            <a:off x="4753219" y="83170"/>
            <a:ext cx="457200" cy="2532998"/>
          </a:xfrm>
          <a:prstGeom prst="upArrow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6A322CE8-4E58-40C4-FFEE-0BB7A4F4DC4D}"/>
              </a:ext>
            </a:extLst>
          </p:cNvPr>
          <p:cNvSpPr/>
          <p:nvPr/>
        </p:nvSpPr>
        <p:spPr>
          <a:xfrm>
            <a:off x="1113914" y="3453487"/>
            <a:ext cx="3234576" cy="99060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/>
              <a:t>Workflow Generation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BEC9940D-F91F-288B-D9E5-07D2E275B5AE}"/>
              </a:ext>
            </a:extLst>
          </p:cNvPr>
          <p:cNvSpPr/>
          <p:nvPr/>
        </p:nvSpPr>
        <p:spPr>
          <a:xfrm>
            <a:off x="6645729" y="3975929"/>
            <a:ext cx="3929742" cy="990600"/>
          </a:xfrm>
          <a:prstGeom prst="roundRect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Workflow </a:t>
            </a:r>
            <a:r>
              <a:rPr lang="de-DE" sz="2400" dirty="0" err="1">
                <a:solidFill>
                  <a:schemeClr val="tx1"/>
                </a:solidFill>
              </a:rPr>
              <a:t>Execution</a:t>
            </a:r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19" name="Pfeil: nach oben 18">
            <a:extLst>
              <a:ext uri="{FF2B5EF4-FFF2-40B4-BE49-F238E27FC236}">
                <a16:creationId xmlns:a16="http://schemas.microsoft.com/office/drawing/2014/main" id="{B2A25A38-E341-354C-4B3E-5C773B17D347}"/>
              </a:ext>
            </a:extLst>
          </p:cNvPr>
          <p:cNvSpPr/>
          <p:nvPr/>
        </p:nvSpPr>
        <p:spPr>
          <a:xfrm rot="10800000">
            <a:off x="8382000" y="3315449"/>
            <a:ext cx="457200" cy="566057"/>
          </a:xfrm>
          <a:prstGeom prst="upArrow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Pfeil: nach oben 20">
            <a:extLst>
              <a:ext uri="{FF2B5EF4-FFF2-40B4-BE49-F238E27FC236}">
                <a16:creationId xmlns:a16="http://schemas.microsoft.com/office/drawing/2014/main" id="{30CF57A3-7702-D2A6-E7C5-249103FB8A57}"/>
              </a:ext>
            </a:extLst>
          </p:cNvPr>
          <p:cNvSpPr/>
          <p:nvPr/>
        </p:nvSpPr>
        <p:spPr>
          <a:xfrm rot="6364931">
            <a:off x="5301876" y="3316266"/>
            <a:ext cx="488792" cy="1938139"/>
          </a:xfrm>
          <a:prstGeom prst="upArrow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: eine Ecke abgeschnitten 22">
            <a:extLst>
              <a:ext uri="{FF2B5EF4-FFF2-40B4-BE49-F238E27FC236}">
                <a16:creationId xmlns:a16="http://schemas.microsoft.com/office/drawing/2014/main" id="{D685F8EA-54FD-6CE0-7E7D-3E83E2B14907}"/>
              </a:ext>
            </a:extLst>
          </p:cNvPr>
          <p:cNvSpPr/>
          <p:nvPr/>
        </p:nvSpPr>
        <p:spPr>
          <a:xfrm>
            <a:off x="6134776" y="5808456"/>
            <a:ext cx="1582148" cy="634152"/>
          </a:xfrm>
          <a:prstGeom prst="snip1Rect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Artifacts</a:t>
            </a:r>
            <a:endParaRPr lang="de-DE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Rechteck: eine Ecke abgeschnitten 23">
            <a:extLst>
              <a:ext uri="{FF2B5EF4-FFF2-40B4-BE49-F238E27FC236}">
                <a16:creationId xmlns:a16="http://schemas.microsoft.com/office/drawing/2014/main" id="{F0F45683-1C37-EA67-0008-597E5711040A}"/>
              </a:ext>
            </a:extLst>
          </p:cNvPr>
          <p:cNvSpPr/>
          <p:nvPr/>
        </p:nvSpPr>
        <p:spPr>
          <a:xfrm>
            <a:off x="9191126" y="5765328"/>
            <a:ext cx="1582148" cy="634152"/>
          </a:xfrm>
          <a:prstGeom prst="snip1Rect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</a:t>
            </a:r>
          </a:p>
        </p:txBody>
      </p:sp>
      <p:sp>
        <p:nvSpPr>
          <p:cNvPr id="25" name="Pfeil: nach oben 24">
            <a:extLst>
              <a:ext uri="{FF2B5EF4-FFF2-40B4-BE49-F238E27FC236}">
                <a16:creationId xmlns:a16="http://schemas.microsoft.com/office/drawing/2014/main" id="{33A98148-7C06-5A44-C7BC-DB76CCD4A434}"/>
              </a:ext>
            </a:extLst>
          </p:cNvPr>
          <p:cNvSpPr/>
          <p:nvPr/>
        </p:nvSpPr>
        <p:spPr>
          <a:xfrm rot="12470936">
            <a:off x="6975465" y="5045745"/>
            <a:ext cx="488792" cy="688408"/>
          </a:xfrm>
          <a:prstGeom prst="upArrow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Pfeil: nach oben 25">
            <a:extLst>
              <a:ext uri="{FF2B5EF4-FFF2-40B4-BE49-F238E27FC236}">
                <a16:creationId xmlns:a16="http://schemas.microsoft.com/office/drawing/2014/main" id="{BE159917-2CF4-F43B-1964-691EEEED8973}"/>
              </a:ext>
            </a:extLst>
          </p:cNvPr>
          <p:cNvSpPr/>
          <p:nvPr/>
        </p:nvSpPr>
        <p:spPr>
          <a:xfrm rot="8179574">
            <a:off x="9516315" y="5046527"/>
            <a:ext cx="488792" cy="688408"/>
          </a:xfrm>
          <a:prstGeom prst="upArrow">
            <a:avLst/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Pfeil: 180-Grad 27">
            <a:extLst>
              <a:ext uri="{FF2B5EF4-FFF2-40B4-BE49-F238E27FC236}">
                <a16:creationId xmlns:a16="http://schemas.microsoft.com/office/drawing/2014/main" id="{97F48CEF-9B13-8675-E618-59F561B3D08D}"/>
              </a:ext>
            </a:extLst>
          </p:cNvPr>
          <p:cNvSpPr/>
          <p:nvPr/>
        </p:nvSpPr>
        <p:spPr>
          <a:xfrm rot="16200000">
            <a:off x="533122" y="957206"/>
            <a:ext cx="4910008" cy="5649701"/>
          </a:xfrm>
          <a:prstGeom prst="uturnArrow">
            <a:avLst>
              <a:gd name="adj1" fmla="val 5496"/>
              <a:gd name="adj2" fmla="val 5282"/>
              <a:gd name="adj3" fmla="val 8096"/>
              <a:gd name="adj4" fmla="val 27475"/>
              <a:gd name="adj5" fmla="val 21011"/>
            </a:avLst>
          </a:prstGeom>
          <a:solidFill>
            <a:srgbClr val="9DCA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FAE1DF7D-6CE0-FA90-72C6-15ADD4F008FC}"/>
              </a:ext>
            </a:extLst>
          </p:cNvPr>
          <p:cNvSpPr/>
          <p:nvPr/>
        </p:nvSpPr>
        <p:spPr>
          <a:xfrm>
            <a:off x="450644" y="455740"/>
            <a:ext cx="5583521" cy="598686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2400" dirty="0">
                <a:solidFill>
                  <a:srgbClr val="0070C0"/>
                </a:solidFill>
              </a:rPr>
              <a:t>@node</a:t>
            </a:r>
            <a:br>
              <a:rPr lang="de-DE" sz="2400" dirty="0"/>
            </a:br>
            <a:r>
              <a:rPr lang="de-DE" sz="2400" dirty="0" err="1"/>
              <a:t>def</a:t>
            </a:r>
            <a:r>
              <a:rPr lang="de-DE" sz="2400" dirty="0"/>
              <a:t> </a:t>
            </a:r>
            <a:r>
              <a:rPr lang="de-DE" sz="2400" dirty="0" err="1"/>
              <a:t>my_function</a:t>
            </a:r>
            <a:r>
              <a:rPr lang="de-DE" sz="2400" dirty="0"/>
              <a:t>(arg1: </a:t>
            </a:r>
            <a:r>
              <a:rPr lang="de-DE" sz="2400" dirty="0">
                <a:solidFill>
                  <a:srgbClr val="0070C0"/>
                </a:solidFill>
              </a:rPr>
              <a:t>Model1</a:t>
            </a:r>
            <a:r>
              <a:rPr lang="de-DE" sz="2400" dirty="0"/>
              <a:t>, </a:t>
            </a:r>
          </a:p>
          <a:p>
            <a:r>
              <a:rPr lang="de-DE" sz="2400" dirty="0"/>
              <a:t>      arg2</a:t>
            </a:r>
            <a:r>
              <a:rPr lang="de-DE" sz="2400" dirty="0">
                <a:solidFill>
                  <a:srgbClr val="0070C0"/>
                </a:solidFill>
              </a:rPr>
              <a:t>: Model2</a:t>
            </a:r>
            <a:r>
              <a:rPr lang="de-DE" sz="2400" dirty="0"/>
              <a:t>, ….) -&gt; </a:t>
            </a:r>
            <a:r>
              <a:rPr lang="de-DE" sz="2400" dirty="0" err="1">
                <a:solidFill>
                  <a:srgbClr val="0070C0"/>
                </a:solidFill>
              </a:rPr>
              <a:t>SimstackResult</a:t>
            </a:r>
            <a:endParaRPr lang="de-DE" sz="2400" dirty="0">
              <a:solidFill>
                <a:srgbClr val="0070C0"/>
              </a:solidFill>
            </a:endParaRPr>
          </a:p>
        </p:txBody>
      </p:sp>
      <p:sp>
        <p:nvSpPr>
          <p:cNvPr id="3" name="Flussdiagramm: Dokument 2">
            <a:extLst>
              <a:ext uri="{FF2B5EF4-FFF2-40B4-BE49-F238E27FC236}">
                <a16:creationId xmlns:a16="http://schemas.microsoft.com/office/drawing/2014/main" id="{002991C0-3CA5-4AF1-321F-1B9DDD128B64}"/>
              </a:ext>
            </a:extLst>
          </p:cNvPr>
          <p:cNvSpPr/>
          <p:nvPr/>
        </p:nvSpPr>
        <p:spPr>
          <a:xfrm>
            <a:off x="2268471" y="1251115"/>
            <a:ext cx="2743198" cy="1295274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decorator</a:t>
            </a:r>
            <a:r>
              <a:rPr lang="de-DE" dirty="0"/>
              <a:t> </a:t>
            </a:r>
            <a:r>
              <a:rPr lang="de-DE" dirty="0" err="1"/>
              <a:t>transforming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workflow</a:t>
            </a:r>
            <a:endParaRPr lang="de-DE" dirty="0"/>
          </a:p>
        </p:txBody>
      </p:sp>
      <p:sp>
        <p:nvSpPr>
          <p:cNvPr id="5" name="Flussdiagramm: Mehrere Dokumente 4">
            <a:extLst>
              <a:ext uri="{FF2B5EF4-FFF2-40B4-BE49-F238E27FC236}">
                <a16:creationId xmlns:a16="http://schemas.microsoft.com/office/drawing/2014/main" id="{D54A213F-54D7-2156-1AF6-F689A6D574A5}"/>
              </a:ext>
            </a:extLst>
          </p:cNvPr>
          <p:cNvSpPr/>
          <p:nvPr/>
        </p:nvSpPr>
        <p:spPr>
          <a:xfrm>
            <a:off x="3130990" y="4329541"/>
            <a:ext cx="2110110" cy="1478915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database</a:t>
            </a:r>
            <a:r>
              <a:rPr lang="de-DE" dirty="0"/>
              <a:t> </a:t>
            </a:r>
            <a:r>
              <a:rPr lang="de-DE" dirty="0" err="1"/>
              <a:t>models</a:t>
            </a:r>
            <a:endParaRPr lang="de-DE" dirty="0"/>
          </a:p>
          <a:p>
            <a:pPr algn="ctr"/>
            <a:r>
              <a:rPr lang="de-DE" dirty="0"/>
              <a:t>(</a:t>
            </a:r>
            <a:r>
              <a:rPr lang="de-DE" dirty="0" err="1"/>
              <a:t>pydantic</a:t>
            </a:r>
            <a:r>
              <a:rPr lang="de-DE" dirty="0"/>
              <a:t>)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C281427-680D-3959-FF00-950CBB006279}"/>
              </a:ext>
            </a:extLst>
          </p:cNvPr>
          <p:cNvSpPr txBox="1"/>
          <p:nvPr/>
        </p:nvSpPr>
        <p:spPr>
          <a:xfrm>
            <a:off x="1502229" y="5891514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written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developer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17975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389F1F9D-AF28-9B00-B94E-902731E16E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A67CC7-D913-23AF-3F24-3F7638D353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1" name="Inhaltsplatzhalter 10" descr="Ein Bild, das Text, Screenshot, Software, Display enthält.&#10;&#10;KI-generierte Inhalte können fehlerhaft sein.">
            <a:extLst>
              <a:ext uri="{FF2B5EF4-FFF2-40B4-BE49-F238E27FC236}">
                <a16:creationId xmlns:a16="http://schemas.microsoft.com/office/drawing/2014/main" id="{DF6C6D64-85EE-BC22-1A74-D4511EAAA97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95" y="1071809"/>
            <a:ext cx="11611209" cy="5467103"/>
          </a:xfrm>
        </p:spPr>
      </p:pic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EB00D633-69EA-3DD0-BD41-5E9B2CB12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9EA04-5B72-41CA-A09B-02511AF09AB8}" type="datetime1">
              <a:rPr lang="de-DE" smtClean="0"/>
              <a:t>12.03.2026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DD1C3339-7218-4A71-9ADF-74AD4CD89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Jörg Schaarschmidt &amp; Wolfgang Wenzel 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2F4C94D-B296-5C14-2B50-56573DF45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7A70C-9621-4099-9D5A-A652D208DE62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19700B92-116D-3CC4-43C7-87516DBB2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 </a:t>
            </a:r>
            <a:r>
              <a:rPr lang="de-DE" dirty="0" err="1"/>
              <a:t>Example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19268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BB24391B-AF28-38D3-8FC1-DCFC58EA2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Node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FD979C9C-9933-AEC7-2533-9EC25867F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7A70C-9621-4099-9D5A-A652D208DE62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41CB17B2-DC48-38B3-400A-D11C01F5B6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CB06FCD3-712D-EF5F-A38A-41BAB6C9A983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356350"/>
            <a:ext cx="2743200" cy="365125"/>
          </a:xfrm>
        </p:spPr>
        <p:txBody>
          <a:bodyPr/>
          <a:lstStyle/>
          <a:p>
            <a:fld id="{C349EA04-5B72-41CA-A09B-02511AF09AB8}" type="datetime1">
              <a:rPr lang="de-DE" smtClean="0"/>
              <a:t>12.03.2026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3038A201-B23F-2619-20CD-E145E63B0C4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356350"/>
            <a:ext cx="4114800" cy="365125"/>
          </a:xfrm>
        </p:spPr>
        <p:txBody>
          <a:bodyPr/>
          <a:lstStyle/>
          <a:p>
            <a:r>
              <a:rPr lang="de-DE"/>
              <a:t>Jörg Schaarschmidt &amp; Wolfgang Wenzel </a:t>
            </a:r>
          </a:p>
        </p:txBody>
      </p:sp>
      <p:pic>
        <p:nvPicPr>
          <p:cNvPr id="13" name="Grafik 12" descr="Ein Bild, das Text, Screenshot, Computer, Display enthält.&#10;&#10;KI-generierte Inhalte können fehlerhaft sein.">
            <a:extLst>
              <a:ext uri="{FF2B5EF4-FFF2-40B4-BE49-F238E27FC236}">
                <a16:creationId xmlns:a16="http://schemas.microsoft.com/office/drawing/2014/main" id="{0478C586-72AA-DC4D-FE07-F3D2F8BB18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665" y="248920"/>
            <a:ext cx="9021935" cy="774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210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B7E42026DE59448CAB1655D996D36E" ma:contentTypeVersion="13" ma:contentTypeDescription="Create a new document." ma:contentTypeScope="" ma:versionID="acde7f5893fc9c8a36ea9f85ba348f75">
  <xsd:schema xmlns:xsd="http://www.w3.org/2001/XMLSchema" xmlns:xs="http://www.w3.org/2001/XMLSchema" xmlns:p="http://schemas.microsoft.com/office/2006/metadata/properties" xmlns:ns2="39ed2aa2-c37b-4215-bccb-df099da5ca95" xmlns:ns3="2828fba2-67b5-4e04-9684-c35c22348fc9" targetNamespace="http://schemas.microsoft.com/office/2006/metadata/properties" ma:root="true" ma:fieldsID="30d67b0a8c44d667d925ad59ee572814" ns2:_="" ns3:_="">
    <xsd:import namespace="39ed2aa2-c37b-4215-bccb-df099da5ca95"/>
    <xsd:import namespace="2828fba2-67b5-4e04-9684-c35c22348fc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ed2aa2-c37b-4215-bccb-df099da5ca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c6641f5-0da7-4f48-9a81-ef320f6056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28fba2-67b5-4e04-9684-c35c22348fc9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885147af-74f4-4036-8542-6ae698611b08}" ma:internalName="TaxCatchAll" ma:showField="CatchAllData" ma:web="2828fba2-67b5-4e04-9684-c35c22348fc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28fba2-67b5-4e04-9684-c35c22348fc9" xsi:nil="true"/>
    <lcf76f155ced4ddcb4097134ff3c332f xmlns="39ed2aa2-c37b-4215-bccb-df099da5ca9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89F715C-8312-4D12-B83B-C15432DC46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9ed2aa2-c37b-4215-bccb-df099da5ca95"/>
    <ds:schemaRef ds:uri="2828fba2-67b5-4e04-9684-c35c22348fc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3303958-8B45-4A8F-BC33-0DEEB6843A9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8BD575D-E281-4EA2-9492-2581F427CF35}">
  <ds:schemaRefs>
    <ds:schemaRef ds:uri="http://schemas.microsoft.com/office/2006/documentManagement/types"/>
    <ds:schemaRef ds:uri="http://purl.org/dc/dcmitype/"/>
    <ds:schemaRef ds:uri="2828fba2-67b5-4e04-9684-c35c22348fc9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39ed2aa2-c37b-4215-bccb-df099da5ca95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500</Words>
  <Application>Microsoft Office PowerPoint</Application>
  <PresentationFormat>Breitbild</PresentationFormat>
  <Paragraphs>128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23" baseType="lpstr">
      <vt:lpstr>Antonio</vt:lpstr>
      <vt:lpstr>Aptos</vt:lpstr>
      <vt:lpstr>Arial</vt:lpstr>
      <vt:lpstr>Calibri Light</vt:lpstr>
      <vt:lpstr>Oswald</vt:lpstr>
      <vt:lpstr>Roboto</vt:lpstr>
      <vt:lpstr>Trade Gothic LT Pro</vt:lpstr>
      <vt:lpstr>Trebuchet MS</vt:lpstr>
      <vt:lpstr>Yantramanav</vt:lpstr>
      <vt:lpstr>Office</vt:lpstr>
      <vt:lpstr>Simstack II Onboarding</vt:lpstr>
      <vt:lpstr>Onboarding Plan</vt:lpstr>
      <vt:lpstr>UI Intro</vt:lpstr>
      <vt:lpstr>Python Workflows &amp; Experiment Tracking</vt:lpstr>
      <vt:lpstr>Architecture </vt:lpstr>
      <vt:lpstr>Architecture </vt:lpstr>
      <vt:lpstr>Architecture </vt:lpstr>
      <vt:lpstr>Architecture </vt:lpstr>
      <vt:lpstr>You can inspect the results in graphical and tabular form </vt:lpstr>
      <vt:lpstr>Python Side</vt:lpstr>
      <vt:lpstr>Architecture </vt:lpstr>
      <vt:lpstr>Model Example</vt:lpstr>
      <vt:lpstr>Node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Wenzel, Wolfgang (INT)</dc:creator>
  <cp:lastModifiedBy>Wenzel, Wolfgang (INT)</cp:lastModifiedBy>
  <cp:revision>13</cp:revision>
  <dcterms:created xsi:type="dcterms:W3CDTF">2025-01-20T14:48:23Z</dcterms:created>
  <dcterms:modified xsi:type="dcterms:W3CDTF">2026-03-12T13:36:06Z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0x01010075B7E42026DE59448CAB1655D996D36E</vt:lpwstr>
  </property>
  <property fmtid="{D5CDD505-2E9C-101B-9397-08002B2CF9AE}" pid="3" name="MediaServiceImageTags">
    <vt:lpwstr/>
  </property>
</Properties>
</file>